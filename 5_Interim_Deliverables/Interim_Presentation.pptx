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34" r:id="rId2"/>
    <p:sldId id="461" r:id="rId3"/>
    <p:sldId id="462" r:id="rId4"/>
    <p:sldId id="467" r:id="rId5"/>
    <p:sldId id="464" r:id="rId6"/>
    <p:sldId id="465" r:id="rId7"/>
    <p:sldId id="457" r:id="rId8"/>
    <p:sldId id="455" r:id="rId9"/>
    <p:sldId id="456" r:id="rId10"/>
    <p:sldId id="453" r:id="rId11"/>
    <p:sldId id="454" r:id="rId12"/>
    <p:sldId id="460" r:id="rId13"/>
    <p:sldId id="459" r:id="rId14"/>
    <p:sldId id="452" r:id="rId15"/>
    <p:sldId id="373" r:id="rId16"/>
    <p:sldId id="466" r:id="rId17"/>
    <p:sldId id="374" r:id="rId18"/>
  </p:sldIdLst>
  <p:sldSz cx="9144000" cy="6858000" type="screen4x3"/>
  <p:notesSz cx="6781800" cy="9906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hat Devrim Şen" initials="NDŞ" lastIdx="1" clrIdx="0">
    <p:extLst>
      <p:ext uri="{19B8F6BF-5375-455C-9EA6-DF929625EA0E}">
        <p15:presenceInfo xmlns:p15="http://schemas.microsoft.com/office/powerpoint/2012/main" userId="c5d0495b6c4fd583" providerId="Windows Live"/>
      </p:ext>
    </p:extLst>
  </p:cmAuthor>
  <p:cmAuthor id="2" name="Naci Hakan İlgün" initials="NHİ" lastIdx="8" clrIdx="1">
    <p:extLst>
      <p:ext uri="{19B8F6BF-5375-455C-9EA6-DF929625EA0E}">
        <p15:presenceInfo xmlns:p15="http://schemas.microsoft.com/office/powerpoint/2012/main" userId="S-1-5-21-2209913847-3806593556-38951541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5B83"/>
    <a:srgbClr val="140E14"/>
    <a:srgbClr val="AF1414"/>
    <a:srgbClr val="990A0A"/>
    <a:srgbClr val="41A94C"/>
    <a:srgbClr val="0C9C1D"/>
    <a:srgbClr val="DAE2E7"/>
    <a:srgbClr val="FF6666"/>
    <a:srgbClr val="FF8000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5597" autoAdjust="0"/>
  </p:normalViewPr>
  <p:slideViewPr>
    <p:cSldViewPr showGuides="1">
      <p:cViewPr varScale="1">
        <p:scale>
          <a:sx n="89" d="100"/>
          <a:sy n="89" d="100"/>
        </p:scale>
        <p:origin x="1517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4710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4710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1070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ACD595C-995D-1241-BF22-0BE151F57D94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4702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16387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16388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05350"/>
            <a:ext cx="497205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390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16391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1070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F00202-AF3F-BC49-A0CF-F9821543CD3A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0923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5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917156-F7E2-034C-AA81-FEDD8C1E2F0B}" type="slidenum">
              <a:rPr lang="en-GB"/>
              <a:pPr/>
              <a:t>1</a:t>
            </a:fld>
            <a:endParaRPr lang="en-GB" dirty="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6286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F00202-AF3F-BC49-A0CF-F9821543CD3A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01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00" y="1650015"/>
            <a:ext cx="8115300" cy="4394200"/>
          </a:xfrm>
          <a:prstGeom prst="rect">
            <a:avLst/>
          </a:prstGeom>
        </p:spPr>
      </p:pic>
      <p:sp>
        <p:nvSpPr>
          <p:cNvPr id="491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1828800"/>
            <a:ext cx="7620000" cy="1143000"/>
          </a:xfrm>
        </p:spPr>
        <p:txBody>
          <a:bodyPr/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 dirty="0"/>
              <a:t>Master title style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rgbClr val="F2F2F2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57946" y="2969017"/>
            <a:ext cx="7702366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555" y="270471"/>
            <a:ext cx="3346704" cy="1188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FEA1B069-6728-784A-A301-AEFC60147E94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29125"/>
            <a:ext cx="77724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3ABC9281-B939-B741-8411-82569C62A614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1148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1148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150DBF1A-C6AA-AB4F-97CD-1F79A461A91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_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594362" y="676659"/>
            <a:ext cx="81666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000" i="0" u="none" strike="noStrike" cap="none">
                <a:solidFill>
                  <a:schemeClr val="dk2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594361" y="1280239"/>
            <a:ext cx="8160321" cy="3151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None/>
              <a:defRPr sz="1800" i="0" u="none" strike="noStrike" cap="none">
                <a:solidFill>
                  <a:schemeClr val="dk2"/>
                </a:solidFill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None/>
              <a:defRPr sz="2000" b="1" i="0" u="none" strike="noStrike" cap="none">
                <a:solidFill>
                  <a:schemeClr val="dk2"/>
                </a:solidFill>
              </a:defRPr>
            </a:lvl2pPr>
            <a:lvl3pPr marL="914400" marR="0" lvl="2" indent="0" algn="l" rtl="0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None/>
              <a:defRPr sz="1800" b="1" i="0" u="none" strike="noStrike" cap="none">
                <a:solidFill>
                  <a:schemeClr val="dk2"/>
                </a:solidFill>
              </a:defRPr>
            </a:lvl3pPr>
            <a:lvl4pPr marL="1371600" marR="0" lvl="3" indent="0" algn="l" rtl="0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None/>
              <a:defRPr sz="1600" b="1" i="0" u="none" strike="noStrike" cap="none">
                <a:solidFill>
                  <a:schemeClr val="dk2"/>
                </a:solidFill>
              </a:defRPr>
            </a:lvl4pPr>
            <a:lvl5pPr marL="1828800" marR="0" lvl="4" indent="0" algn="l" rtl="0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None/>
              <a:defRPr sz="1600" b="1" i="0" u="none" strike="noStrike" cap="none">
                <a:solidFill>
                  <a:schemeClr val="dk2"/>
                </a:solidFill>
              </a:defRPr>
            </a:lvl5pPr>
            <a:lvl6pPr marL="2286000" marR="0" lvl="5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6pPr>
            <a:lvl7pPr marL="2743200" marR="0" lvl="6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7pPr>
            <a:lvl8pPr marL="3200400" marR="0" lvl="7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8pPr>
            <a:lvl9pPr marL="3657600" marR="0" lvl="8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609601" y="6096080"/>
            <a:ext cx="8153399" cy="6283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Font typeface="Open Sans"/>
              <a:buNone/>
              <a:defRPr sz="8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543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5562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5562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5562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DCF60520-9A31-014B-B512-554D0441111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9213850" y="6320135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8100" y="6096000"/>
            <a:ext cx="9258300" cy="800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endyol.com/sandalie/rattan-90x150-camsiz-kahve-masa-bahce-balkon-teras-p-194971985" TargetMode="External"/><Relationship Id="rId3" Type="http://schemas.openxmlformats.org/officeDocument/2006/relationships/hyperlink" Target="https://burdur.tarimorman.gov.tr/Lists/KutuMenu/Attachments/6/2022%20BR&#304;F&#304;NG%20(2).pdf" TargetMode="External"/><Relationship Id="rId7" Type="http://schemas.openxmlformats.org/officeDocument/2006/relationships/hyperlink" Target="https://www.trendyol.com/emek/vana-50-ad-damla-sulama-parcasi-aparati-damlama-borusu-hortumu-parcasi-ekleme-baglanti-parcalari-p-34374307" TargetMode="External"/><Relationship Id="rId2" Type="http://schemas.openxmlformats.org/officeDocument/2006/relationships/hyperlink" Target="https://ms.hmb.gov.tr/uploads/2024/09/Web_Kamu_Borc_Yonetimi_Raporu_Agustos_2024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tfarming.com/tarim-aletleri/damlama-sulama-borusu/yassi-damlama-borusu-50-cm-delikli-17-lik" TargetMode="External"/><Relationship Id="rId5" Type="http://schemas.openxmlformats.org/officeDocument/2006/relationships/hyperlink" Target="https://iconbanyo.com/urun/ege-yildiz-32-mm-10-atu-siyah-kangal-boru-100-metre" TargetMode="External"/><Relationship Id="rId4" Type="http://schemas.openxmlformats.org/officeDocument/2006/relationships/hyperlink" Target="https://ms.hmb.gov.tr/uploads/2025/03/Ekonomi-Sunumu_TUR.pdf" TargetMode="External"/><Relationship Id="rId9" Type="http://schemas.openxmlformats.org/officeDocument/2006/relationships/hyperlink" Target="https://www.hepsiburada.com/panel-cit-bahce-kapisi-gobek-kilitli-kollu-100x100-pm-HBC00007UIO96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psiburada.com/ege-arge-bahce-bel-kuregi-yesil-boyali-sapli-pm-HB00000V62VS" TargetMode="External"/><Relationship Id="rId2" Type="http://schemas.openxmlformats.org/officeDocument/2006/relationships/hyperlink" Target="https://ms.hmb.gov.tr/uploads/2024/09/Web_Kamu_Borc_Yonetimi_Raporu_Agustos_2024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62000" y="3471206"/>
            <a:ext cx="777044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endParaRPr lang="en-GB" dirty="0">
              <a:latin typeface="Arial Black" charset="0"/>
            </a:endParaRPr>
          </a:p>
          <a:p>
            <a:pPr algn="ctr">
              <a:spcBef>
                <a:spcPct val="50000"/>
              </a:spcBef>
            </a:pPr>
            <a:endParaRPr lang="en-GB" sz="2800" dirty="0">
              <a:latin typeface="Arial Black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827584" y="1772816"/>
            <a:ext cx="7620000" cy="114300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Graduation Design Project (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BTP)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(2024/2025 Spring)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751192" y="5229200"/>
            <a:ext cx="27038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Nihan Yıldırım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Derya Gültekin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11"/>
          <p:cNvSpPr txBox="1">
            <a:spLocks/>
          </p:cNvSpPr>
          <p:nvPr/>
        </p:nvSpPr>
        <p:spPr bwMode="auto">
          <a:xfrm>
            <a:off x="1446820" y="3137890"/>
            <a:ext cx="6400800" cy="414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rgbClr val="F2F2F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tr-TR" sz="3200" b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Interim Presentation</a:t>
            </a:r>
            <a:endParaRPr lang="en-GB" sz="3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Subtitle 11"/>
          <p:cNvSpPr txBox="1">
            <a:spLocks/>
          </p:cNvSpPr>
          <p:nvPr/>
        </p:nvSpPr>
        <p:spPr bwMode="auto">
          <a:xfrm>
            <a:off x="1437184" y="3942567"/>
            <a:ext cx="6400800" cy="896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rgbClr val="F2F2F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dirty="0"/>
              <a:t>A Sustainable and Inclusive </a:t>
            </a:r>
            <a:r>
              <a:rPr lang="tr-TR" dirty="0"/>
              <a:t/>
            </a:r>
            <a:br>
              <a:rPr lang="tr-TR" dirty="0"/>
            </a:br>
            <a:r>
              <a:rPr lang="en-US" dirty="0"/>
              <a:t>Agricultural Business Model Design </a:t>
            </a:r>
            <a:endParaRPr lang="en-GB" b="1" dirty="0">
              <a:latin typeface="Humanist 777" panose="02000503050000020004" pitchFamily="2" charset="-94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5220072" y="5229200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Naci Hakan İlgün </a:t>
            </a:r>
            <a:r>
              <a:rPr lang="tr-T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070190213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Nihat Devrim Şen 070210741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="" xmlns:a16="http://schemas.microsoft.com/office/drawing/2014/main" id="{3A261BE9-0A91-4E12-840D-19CCF55667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504" y="908720"/>
            <a:ext cx="8856984" cy="5110104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Business Model Canvas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632851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Social Business Model Canvas</a:t>
            </a:r>
            <a:endParaRPr lang="en-US" sz="2600" b="1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8" y="906561"/>
            <a:ext cx="8817104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3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8" y="1124744"/>
            <a:ext cx="8748464" cy="4499409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err="1" smtClean="0"/>
              <a:t>Limitations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70019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-222793" y="2996291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         How We Progressed?</a:t>
            </a:r>
            <a:endParaRPr lang="en-US" b="1" dirty="0"/>
          </a:p>
        </p:txBody>
      </p:sp>
      <p:sp>
        <p:nvSpPr>
          <p:cNvPr id="5" name="Dikdörtgen 4"/>
          <p:cNvSpPr/>
          <p:nvPr/>
        </p:nvSpPr>
        <p:spPr>
          <a:xfrm>
            <a:off x="1014643" y="3547337"/>
            <a:ext cx="73448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1800" dirty="0" smtClean="0"/>
              <a:t>General </a:t>
            </a:r>
            <a:r>
              <a:rPr lang="en-US" sz="1800" dirty="0"/>
              <a:t>trends were identified with quantitative data obtained from the </a:t>
            </a:r>
            <a:r>
              <a:rPr lang="en-US" sz="1800" dirty="0" smtClean="0"/>
              <a:t>questionnaires.</a:t>
            </a:r>
            <a:endParaRPr lang="tr-TR" sz="1800" dirty="0" smtClean="0"/>
          </a:p>
          <a:p>
            <a:pPr marL="457200" indent="-457200">
              <a:buAutoNum type="arabicPeriod"/>
            </a:pPr>
            <a:r>
              <a:rPr lang="en-US" sz="1800" dirty="0" smtClean="0"/>
              <a:t>These </a:t>
            </a:r>
            <a:r>
              <a:rPr lang="en-US" sz="1800" dirty="0"/>
              <a:t>trends were confirmed and elaborated with interview </a:t>
            </a:r>
            <a:r>
              <a:rPr lang="en-US" sz="1800" dirty="0" smtClean="0"/>
              <a:t>data.</a:t>
            </a:r>
            <a:endParaRPr lang="tr-TR" sz="1800" dirty="0"/>
          </a:p>
          <a:p>
            <a:pPr marL="457200" indent="-457200">
              <a:buAutoNum type="arabicPeriod"/>
            </a:pPr>
            <a:r>
              <a:rPr lang="en-US" sz="1800" dirty="0" smtClean="0"/>
              <a:t>Concept </a:t>
            </a:r>
            <a:r>
              <a:rPr lang="en-US" sz="1800" dirty="0"/>
              <a:t>Generation was carried out based on the needs emerging from both sources.</a:t>
            </a:r>
          </a:p>
        </p:txBody>
      </p:sp>
      <p:sp>
        <p:nvSpPr>
          <p:cNvPr id="6" name="Dikdörtgen 5"/>
          <p:cNvSpPr/>
          <p:nvPr/>
        </p:nvSpPr>
        <p:spPr>
          <a:xfrm>
            <a:off x="0" y="508518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         </a:t>
            </a:r>
            <a:r>
              <a:rPr lang="en-US" b="1" dirty="0" smtClean="0"/>
              <a:t>Transition </a:t>
            </a:r>
            <a:r>
              <a:rPr lang="en-US" b="1" dirty="0"/>
              <a:t>Flow from Data to </a:t>
            </a:r>
            <a:r>
              <a:rPr lang="en-US" b="1" dirty="0" smtClean="0"/>
              <a:t>Solutions</a:t>
            </a:r>
            <a:r>
              <a:rPr lang="tr-TR" b="1" dirty="0" smtClean="0"/>
              <a:t>:</a:t>
            </a:r>
            <a:endParaRPr lang="en-US" b="1" dirty="0"/>
          </a:p>
        </p:txBody>
      </p:sp>
      <p:sp>
        <p:nvSpPr>
          <p:cNvPr id="7" name="Dikdörtgen 6"/>
          <p:cNvSpPr/>
          <p:nvPr/>
        </p:nvSpPr>
        <p:spPr>
          <a:xfrm>
            <a:off x="1313638" y="5546849"/>
            <a:ext cx="65167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Survey + Interview ➔ Needs List ➔ Solution Ideas</a:t>
            </a:r>
          </a:p>
        </p:txBody>
      </p:sp>
      <p:sp>
        <p:nvSpPr>
          <p:cNvPr id="8" name="Dikdörtgen 7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Concept Generation</a:t>
            </a:r>
            <a:endParaRPr lang="en-US" sz="2600" b="1" dirty="0"/>
          </a:p>
        </p:txBody>
      </p:sp>
      <p:sp>
        <p:nvSpPr>
          <p:cNvPr id="20" name="Dikdörtgen 19"/>
          <p:cNvSpPr/>
          <p:nvPr/>
        </p:nvSpPr>
        <p:spPr>
          <a:xfrm>
            <a:off x="683568" y="1141342"/>
            <a:ext cx="82078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 smtClean="0"/>
              <a:t>1. Survey                                             2. Interview</a:t>
            </a:r>
            <a:endParaRPr lang="en-US" sz="2000" b="1" dirty="0"/>
          </a:p>
        </p:txBody>
      </p:sp>
      <p:sp>
        <p:nvSpPr>
          <p:cNvPr id="21" name="Dikdörtgen 20"/>
          <p:cNvSpPr/>
          <p:nvPr/>
        </p:nvSpPr>
        <p:spPr>
          <a:xfrm>
            <a:off x="1167868" y="1563955"/>
            <a:ext cx="1224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000" b="1" dirty="0" smtClean="0"/>
              <a:t>59 People</a:t>
            </a:r>
            <a:endParaRPr lang="en-US" sz="2000" b="1" dirty="0"/>
          </a:p>
        </p:txBody>
      </p:sp>
      <p:sp>
        <p:nvSpPr>
          <p:cNvPr id="22" name="Dikdörtgen 21"/>
          <p:cNvSpPr/>
          <p:nvPr/>
        </p:nvSpPr>
        <p:spPr>
          <a:xfrm>
            <a:off x="735820" y="152575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👥</a:t>
            </a:r>
          </a:p>
        </p:txBody>
      </p:sp>
      <p:sp>
        <p:nvSpPr>
          <p:cNvPr id="23" name="Dikdörtgen 22"/>
          <p:cNvSpPr/>
          <p:nvPr/>
        </p:nvSpPr>
        <p:spPr>
          <a:xfrm>
            <a:off x="4566141" y="155036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👥</a:t>
            </a:r>
          </a:p>
        </p:txBody>
      </p:sp>
      <p:sp>
        <p:nvSpPr>
          <p:cNvPr id="24" name="Dikdörtgen 23"/>
          <p:cNvSpPr/>
          <p:nvPr/>
        </p:nvSpPr>
        <p:spPr>
          <a:xfrm>
            <a:off x="4999468" y="1577665"/>
            <a:ext cx="1224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000" b="1" dirty="0"/>
              <a:t>3</a:t>
            </a:r>
            <a:r>
              <a:rPr lang="tr-TR" sz="2000" b="1" dirty="0" smtClean="0"/>
              <a:t> People</a:t>
            </a:r>
            <a:endParaRPr lang="en-US" sz="2000" b="1" dirty="0"/>
          </a:p>
        </p:txBody>
      </p:sp>
      <p:sp>
        <p:nvSpPr>
          <p:cNvPr id="25" name="Dikdörtgen 24"/>
          <p:cNvSpPr/>
          <p:nvPr/>
        </p:nvSpPr>
        <p:spPr>
          <a:xfrm>
            <a:off x="1168795" y="1992590"/>
            <a:ext cx="3672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- Organic </a:t>
            </a:r>
            <a:r>
              <a:rPr lang="tr-TR" sz="1800" dirty="0"/>
              <a:t>P</a:t>
            </a:r>
            <a:r>
              <a:rPr lang="en-US" sz="1800" dirty="0" smtClean="0"/>
              <a:t>roducts</a:t>
            </a:r>
            <a:endParaRPr lang="tr-TR" sz="1800" dirty="0" smtClean="0"/>
          </a:p>
          <a:p>
            <a:r>
              <a:rPr lang="tr-TR" sz="1800" dirty="0" smtClean="0"/>
              <a:t>- S</a:t>
            </a:r>
            <a:r>
              <a:rPr lang="en-US" sz="1800" dirty="0" smtClean="0"/>
              <a:t>ocial </a:t>
            </a:r>
            <a:r>
              <a:rPr lang="tr-TR" sz="1800" dirty="0" smtClean="0"/>
              <a:t>R</a:t>
            </a:r>
            <a:r>
              <a:rPr lang="en-US" sz="1800" dirty="0" smtClean="0"/>
              <a:t>esponsibility </a:t>
            </a:r>
            <a:r>
              <a:rPr lang="tr-TR" sz="1800" dirty="0" smtClean="0"/>
              <a:t>S</a:t>
            </a:r>
            <a:r>
              <a:rPr lang="en-US" sz="1800" dirty="0" smtClean="0"/>
              <a:t>ensitivity</a:t>
            </a:r>
            <a:endParaRPr lang="tr-TR" sz="1800" dirty="0" smtClean="0"/>
          </a:p>
          <a:p>
            <a:r>
              <a:rPr lang="tr-TR" sz="1800" dirty="0" smtClean="0"/>
              <a:t>- P</a:t>
            </a:r>
            <a:r>
              <a:rPr lang="en-US" sz="1800" dirty="0" smtClean="0"/>
              <a:t>rocess </a:t>
            </a:r>
            <a:r>
              <a:rPr lang="tr-TR" sz="1800" dirty="0" smtClean="0"/>
              <a:t>T</a:t>
            </a:r>
            <a:r>
              <a:rPr lang="en-US" sz="1800" dirty="0" smtClean="0"/>
              <a:t>ransparency</a:t>
            </a:r>
            <a:r>
              <a:rPr lang="tr-TR" sz="1800" dirty="0" smtClean="0"/>
              <a:t>.</a:t>
            </a:r>
            <a:endParaRPr lang="en-US" sz="1800" dirty="0"/>
          </a:p>
        </p:txBody>
      </p:sp>
      <p:sp>
        <p:nvSpPr>
          <p:cNvPr id="26" name="Dikdörtgen 25"/>
          <p:cNvSpPr/>
          <p:nvPr/>
        </p:nvSpPr>
        <p:spPr>
          <a:xfrm>
            <a:off x="699386" y="2192645"/>
            <a:ext cx="5040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Google Sans"/>
              </a:rPr>
              <a:t>⚡️</a:t>
            </a:r>
            <a:endParaRPr lang="en-US" sz="2800" b="1" dirty="0"/>
          </a:p>
        </p:txBody>
      </p:sp>
      <p:sp>
        <p:nvSpPr>
          <p:cNvPr id="27" name="Dikdörtgen 26"/>
          <p:cNvSpPr/>
          <p:nvPr/>
        </p:nvSpPr>
        <p:spPr>
          <a:xfrm>
            <a:off x="5013932" y="200931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800" dirty="0" smtClean="0"/>
              <a:t>- Motivations</a:t>
            </a:r>
          </a:p>
          <a:p>
            <a:r>
              <a:rPr lang="tr-TR" sz="1800" dirty="0" smtClean="0"/>
              <a:t>- Priorities</a:t>
            </a:r>
          </a:p>
          <a:p>
            <a:r>
              <a:rPr lang="tr-TR" sz="1800" dirty="0" smtClean="0"/>
              <a:t>- Hesitations</a:t>
            </a:r>
            <a:endParaRPr lang="en-US" sz="1800" dirty="0"/>
          </a:p>
        </p:txBody>
      </p:sp>
      <p:sp>
        <p:nvSpPr>
          <p:cNvPr id="28" name="Dikdörtgen 27"/>
          <p:cNvSpPr/>
          <p:nvPr/>
        </p:nvSpPr>
        <p:spPr>
          <a:xfrm>
            <a:off x="4542712" y="2191001"/>
            <a:ext cx="5040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Google Sans"/>
              </a:rPr>
              <a:t>⚡️</a:t>
            </a:r>
            <a:endParaRPr lang="en-US" sz="2800" b="1" dirty="0"/>
          </a:p>
        </p:txBody>
      </p:sp>
      <p:sp>
        <p:nvSpPr>
          <p:cNvPr id="29" name="Dikdörtgen 28"/>
          <p:cNvSpPr/>
          <p:nvPr/>
        </p:nvSpPr>
        <p:spPr>
          <a:xfrm>
            <a:off x="-252537" y="672624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 </a:t>
            </a:r>
            <a:r>
              <a:rPr lang="tr-TR" b="1" dirty="0" smtClean="0"/>
              <a:t>        Data Sources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6774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Concept Generation (Cont’d)</a:t>
            </a:r>
            <a:endParaRPr lang="en-US" sz="2600" b="1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84" y="773200"/>
            <a:ext cx="7978831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82804"/>
            <a:ext cx="8824058" cy="3672408"/>
          </a:xfrm>
          <a:prstGeom prst="rect">
            <a:avLst/>
          </a:prstGeom>
        </p:spPr>
      </p:pic>
      <p:sp>
        <p:nvSpPr>
          <p:cNvPr id="8" name="Dikdörtgen 7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Technical Specifications</a:t>
            </a:r>
            <a:endParaRPr lang="en-US" sz="2600" b="1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6" y="4637766"/>
            <a:ext cx="8752050" cy="13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Initial Investment Items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692696"/>
            <a:ext cx="7056784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2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96" y="764704"/>
            <a:ext cx="7010208" cy="5256584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Initial Investment </a:t>
            </a:r>
            <a:r>
              <a:rPr lang="en-US" sz="2600" b="1" dirty="0" smtClean="0"/>
              <a:t>Items</a:t>
            </a:r>
            <a:r>
              <a:rPr lang="tr-TR" sz="2600" b="1" dirty="0" smtClean="0"/>
              <a:t> (Cont’d)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4733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17898"/>
            <a:ext cx="8640960" cy="224317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106959"/>
            <a:ext cx="8640960" cy="1217602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16" y="4324562"/>
            <a:ext cx="4713936" cy="1737686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43" y="4328919"/>
            <a:ext cx="3944573" cy="1727257"/>
          </a:xfrm>
          <a:prstGeom prst="rect">
            <a:avLst/>
          </a:prstGeom>
        </p:spPr>
      </p:pic>
      <p:sp>
        <p:nvSpPr>
          <p:cNvPr id="24" name="Dikdörtgen 2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Financial Statements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84632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08720"/>
            <a:ext cx="8820472" cy="404680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973" y="5072988"/>
            <a:ext cx="3995550" cy="982512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Financial Statements (Cont’d)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9223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8720"/>
            <a:ext cx="8640960" cy="5079925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What is the Economic Value We Offer?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28525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8667913" cy="4900400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0" y="260648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Capacity Development Plan</a:t>
            </a:r>
          </a:p>
        </p:txBody>
      </p:sp>
    </p:spTree>
    <p:extLst>
      <p:ext uri="{BB962C8B-B14F-4D97-AF65-F5344CB8AC3E}">
        <p14:creationId xmlns:p14="http://schemas.microsoft.com/office/powerpoint/2010/main" val="274027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xmlns="" id="{D387EF25-7310-4EE4-A183-8089B82033BD}"/>
              </a:ext>
            </a:extLst>
          </p:cNvPr>
          <p:cNvCxnSpPr>
            <a:cxnSpLocks/>
          </p:cNvCxnSpPr>
          <p:nvPr/>
        </p:nvCxnSpPr>
        <p:spPr>
          <a:xfrm>
            <a:off x="8818409" y="1557465"/>
            <a:ext cx="33790" cy="4003587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xmlns="" id="{EA81334B-531D-40B6-B255-79049C84F1C8}"/>
              </a:ext>
            </a:extLst>
          </p:cNvPr>
          <p:cNvCxnSpPr>
            <a:cxnSpLocks/>
          </p:cNvCxnSpPr>
          <p:nvPr/>
        </p:nvCxnSpPr>
        <p:spPr>
          <a:xfrm>
            <a:off x="7450679" y="1619657"/>
            <a:ext cx="25484" cy="3953158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xmlns="" id="{1F001718-99EB-4039-B8AA-08D5889E2B09}"/>
              </a:ext>
            </a:extLst>
          </p:cNvPr>
          <p:cNvCxnSpPr>
            <a:cxnSpLocks/>
          </p:cNvCxnSpPr>
          <p:nvPr/>
        </p:nvCxnSpPr>
        <p:spPr>
          <a:xfrm>
            <a:off x="6248142" y="1757214"/>
            <a:ext cx="0" cy="3816424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xmlns="" id="{18916B77-4ECD-41FC-A360-E32AA69140EA}"/>
              </a:ext>
            </a:extLst>
          </p:cNvPr>
          <p:cNvCxnSpPr>
            <a:cxnSpLocks/>
          </p:cNvCxnSpPr>
          <p:nvPr/>
        </p:nvCxnSpPr>
        <p:spPr>
          <a:xfrm>
            <a:off x="4896027" y="1758005"/>
            <a:ext cx="0" cy="3816424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xmlns="" id="{618D3C66-DD92-4B36-BFFC-A61AB85CEAC1}"/>
              </a:ext>
            </a:extLst>
          </p:cNvPr>
          <p:cNvCxnSpPr>
            <a:cxnSpLocks/>
          </p:cNvCxnSpPr>
          <p:nvPr/>
        </p:nvCxnSpPr>
        <p:spPr>
          <a:xfrm>
            <a:off x="3658911" y="1768836"/>
            <a:ext cx="0" cy="3816424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33E4C9EC-FC3F-4BDD-BE04-1B8ECB406CEA}"/>
              </a:ext>
            </a:extLst>
          </p:cNvPr>
          <p:cNvCxnSpPr>
            <a:cxnSpLocks/>
          </p:cNvCxnSpPr>
          <p:nvPr/>
        </p:nvCxnSpPr>
        <p:spPr>
          <a:xfrm>
            <a:off x="2304209" y="1778197"/>
            <a:ext cx="0" cy="3816424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6C07C787-B8DF-459F-BD33-4F378D425A58}"/>
              </a:ext>
            </a:extLst>
          </p:cNvPr>
          <p:cNvCxnSpPr>
            <a:cxnSpLocks/>
          </p:cNvCxnSpPr>
          <p:nvPr/>
        </p:nvCxnSpPr>
        <p:spPr>
          <a:xfrm>
            <a:off x="912499" y="1757214"/>
            <a:ext cx="23426" cy="2945472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ipsa 39">
            <a:extLst>
              <a:ext uri="{FF2B5EF4-FFF2-40B4-BE49-F238E27FC236}">
                <a16:creationId xmlns:a16="http://schemas.microsoft.com/office/drawing/2014/main" xmlns="" id="{90C76CF2-2C77-404A-B25B-2CAA57302A35}"/>
              </a:ext>
            </a:extLst>
          </p:cNvPr>
          <p:cNvSpPr/>
          <p:nvPr/>
        </p:nvSpPr>
        <p:spPr bwMode="auto">
          <a:xfrm>
            <a:off x="8256375" y="1281194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6" name="Elipsa 39">
            <a:extLst>
              <a:ext uri="{FF2B5EF4-FFF2-40B4-BE49-F238E27FC236}">
                <a16:creationId xmlns:a16="http://schemas.microsoft.com/office/drawing/2014/main" xmlns="" id="{39854E4D-79B3-40D2-820E-9D2BD2D052F1}"/>
              </a:ext>
            </a:extLst>
          </p:cNvPr>
          <p:cNvSpPr/>
          <p:nvPr/>
        </p:nvSpPr>
        <p:spPr bwMode="auto">
          <a:xfrm>
            <a:off x="1869823" y="1288225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7" name="Elipsa 39">
            <a:extLst>
              <a:ext uri="{FF2B5EF4-FFF2-40B4-BE49-F238E27FC236}">
                <a16:creationId xmlns:a16="http://schemas.microsoft.com/office/drawing/2014/main" xmlns="" id="{343FB19F-31D9-4CE3-834C-E4F84FB26121}"/>
              </a:ext>
            </a:extLst>
          </p:cNvPr>
          <p:cNvSpPr/>
          <p:nvPr/>
        </p:nvSpPr>
        <p:spPr bwMode="auto">
          <a:xfrm>
            <a:off x="397373" y="1288225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0358451F-B7F5-4205-9869-7D461A7B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173" y="2049815"/>
            <a:ext cx="423885" cy="325383"/>
          </a:xfrm>
          <a:prstGeom prst="ellipse">
            <a:avLst/>
          </a:prstGeom>
          <a:solidFill>
            <a:schemeClr val="accent5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/>
          </a:p>
        </p:txBody>
      </p:sp>
      <p:sp>
        <p:nvSpPr>
          <p:cNvPr id="5" name="Shape 739">
            <a:extLst>
              <a:ext uri="{FF2B5EF4-FFF2-40B4-BE49-F238E27FC236}">
                <a16:creationId xmlns:a16="http://schemas.microsoft.com/office/drawing/2014/main" xmlns="" id="{1B06C362-3418-4E98-906D-1B70C54B7E52}"/>
              </a:ext>
            </a:extLst>
          </p:cNvPr>
          <p:cNvSpPr txBox="1">
            <a:spLocks/>
          </p:cNvSpPr>
          <p:nvPr/>
        </p:nvSpPr>
        <p:spPr>
          <a:xfrm>
            <a:off x="330988" y="1359393"/>
            <a:ext cx="1008112" cy="438911"/>
          </a:xfrm>
          <a:prstGeom prst="rect">
            <a:avLst/>
          </a:prstGeom>
          <a:noFill/>
          <a:ln>
            <a:noFill/>
          </a:ln>
        </p:spPr>
        <p:txBody>
          <a:bodyPr lIns="91390" tIns="0" rIns="9139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PROJECT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PULSE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hape 616">
            <a:extLst>
              <a:ext uri="{FF2B5EF4-FFF2-40B4-BE49-F238E27FC236}">
                <a16:creationId xmlns:a16="http://schemas.microsoft.com/office/drawing/2014/main" xmlns="" id="{30FF0E87-34EB-4F99-B94C-2E319C3AFBE1}"/>
              </a:ext>
            </a:extLst>
          </p:cNvPr>
          <p:cNvSpPr txBox="1">
            <a:spLocks/>
          </p:cNvSpPr>
          <p:nvPr/>
        </p:nvSpPr>
        <p:spPr>
          <a:xfrm>
            <a:off x="8101224" y="1434168"/>
            <a:ext cx="1161769" cy="223947"/>
          </a:xfrm>
          <a:prstGeom prst="rect">
            <a:avLst/>
          </a:prstGeom>
          <a:noFill/>
          <a:ln>
            <a:noFill/>
          </a:ln>
        </p:spPr>
        <p:txBody>
          <a:bodyPr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05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CONCLUSION</a:t>
            </a:r>
            <a:endParaRPr lang="en-US" sz="105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1" name="Elipsa 39">
            <a:extLst>
              <a:ext uri="{FF2B5EF4-FFF2-40B4-BE49-F238E27FC236}">
                <a16:creationId xmlns:a16="http://schemas.microsoft.com/office/drawing/2014/main" xmlns="" id="{1556EE91-2BCD-4B01-B5DE-14AE67E67C20}"/>
              </a:ext>
            </a:extLst>
          </p:cNvPr>
          <p:cNvSpPr/>
          <p:nvPr/>
        </p:nvSpPr>
        <p:spPr bwMode="auto">
          <a:xfrm>
            <a:off x="7009601" y="1305988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2" name="Elipsa 39">
            <a:extLst>
              <a:ext uri="{FF2B5EF4-FFF2-40B4-BE49-F238E27FC236}">
                <a16:creationId xmlns:a16="http://schemas.microsoft.com/office/drawing/2014/main" xmlns="" id="{A6E2C15A-7BF9-4B0B-B791-D74B180681D2}"/>
              </a:ext>
            </a:extLst>
          </p:cNvPr>
          <p:cNvSpPr/>
          <p:nvPr/>
        </p:nvSpPr>
        <p:spPr bwMode="auto">
          <a:xfrm>
            <a:off x="5842075" y="1300655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3" name="Elipsa 39">
            <a:extLst>
              <a:ext uri="{FF2B5EF4-FFF2-40B4-BE49-F238E27FC236}">
                <a16:creationId xmlns:a16="http://schemas.microsoft.com/office/drawing/2014/main" xmlns="" id="{533A36FB-2612-4CA9-9DC7-66CA6621EE99}"/>
              </a:ext>
            </a:extLst>
          </p:cNvPr>
          <p:cNvSpPr/>
          <p:nvPr/>
        </p:nvSpPr>
        <p:spPr bwMode="auto">
          <a:xfrm>
            <a:off x="4456239" y="1294223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4" name="Elipsa 39">
            <a:extLst>
              <a:ext uri="{FF2B5EF4-FFF2-40B4-BE49-F238E27FC236}">
                <a16:creationId xmlns:a16="http://schemas.microsoft.com/office/drawing/2014/main" xmlns="" id="{4ECF56BE-D8AE-4C22-B886-BF9F1B32CD28}"/>
              </a:ext>
            </a:extLst>
          </p:cNvPr>
          <p:cNvSpPr/>
          <p:nvPr/>
        </p:nvSpPr>
        <p:spPr bwMode="auto">
          <a:xfrm>
            <a:off x="3222648" y="1289078"/>
            <a:ext cx="864096" cy="4760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91405" tIns="45702" rIns="91405" bIns="45702" rtlCol="0">
            <a:spAutoFit/>
          </a:bodyPr>
          <a:lstStyle/>
          <a:p>
            <a:pPr algn="ctr"/>
            <a:endParaRPr lang="en-GB" sz="1600" b="1" dirty="0">
              <a:solidFill>
                <a:srgbClr val="FFFFFF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9" name="Shape 616">
            <a:extLst>
              <a:ext uri="{FF2B5EF4-FFF2-40B4-BE49-F238E27FC236}">
                <a16:creationId xmlns:a16="http://schemas.microsoft.com/office/drawing/2014/main" xmlns="" id="{58901C8B-6FA9-4B09-B867-20F5ACE2D51C}"/>
              </a:ext>
            </a:extLst>
          </p:cNvPr>
          <p:cNvSpPr txBox="1">
            <a:spLocks/>
          </p:cNvSpPr>
          <p:nvPr/>
        </p:nvSpPr>
        <p:spPr>
          <a:xfrm>
            <a:off x="3266151" y="1313149"/>
            <a:ext cx="792875" cy="423389"/>
          </a:xfrm>
          <a:prstGeom prst="rect">
            <a:avLst/>
          </a:prstGeom>
          <a:noFill/>
          <a:ln>
            <a:noFill/>
          </a:ln>
        </p:spPr>
        <p:txBody>
          <a:bodyPr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SYSTEM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DESIGN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0" name="Shape 616">
            <a:extLst>
              <a:ext uri="{FF2B5EF4-FFF2-40B4-BE49-F238E27FC236}">
                <a16:creationId xmlns:a16="http://schemas.microsoft.com/office/drawing/2014/main" xmlns="" id="{A7B505A2-A640-4AE9-9F6C-443652751CAE}"/>
              </a:ext>
            </a:extLst>
          </p:cNvPr>
          <p:cNvSpPr txBox="1">
            <a:spLocks/>
          </p:cNvSpPr>
          <p:nvPr/>
        </p:nvSpPr>
        <p:spPr>
          <a:xfrm>
            <a:off x="4338684" y="1416876"/>
            <a:ext cx="1087376" cy="209655"/>
          </a:xfrm>
          <a:prstGeom prst="rect">
            <a:avLst/>
          </a:prstGeom>
          <a:noFill/>
          <a:ln>
            <a:noFill/>
          </a:ln>
        </p:spPr>
        <p:txBody>
          <a:bodyPr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MARKETING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1" name="Shape 616">
            <a:extLst>
              <a:ext uri="{FF2B5EF4-FFF2-40B4-BE49-F238E27FC236}">
                <a16:creationId xmlns:a16="http://schemas.microsoft.com/office/drawing/2014/main" xmlns="" id="{2A0605D0-FC2B-4394-A026-72B6D1637940}"/>
              </a:ext>
            </a:extLst>
          </p:cNvPr>
          <p:cNvSpPr txBox="1">
            <a:spLocks/>
          </p:cNvSpPr>
          <p:nvPr/>
        </p:nvSpPr>
        <p:spPr>
          <a:xfrm>
            <a:off x="5748428" y="1359393"/>
            <a:ext cx="1033646" cy="398213"/>
          </a:xfrm>
          <a:prstGeom prst="rect">
            <a:avLst/>
          </a:prstGeom>
          <a:noFill/>
          <a:ln>
            <a:noFill/>
          </a:ln>
        </p:spPr>
        <p:txBody>
          <a:bodyPr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FINANCIAL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ANALYSIS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2" name="Shape 616">
            <a:extLst>
              <a:ext uri="{FF2B5EF4-FFF2-40B4-BE49-F238E27FC236}">
                <a16:creationId xmlns:a16="http://schemas.microsoft.com/office/drawing/2014/main" xmlns="" id="{01770E6A-68FE-4D98-A2C1-A98DD0E7487F}"/>
              </a:ext>
            </a:extLst>
          </p:cNvPr>
          <p:cNvSpPr txBox="1">
            <a:spLocks/>
          </p:cNvSpPr>
          <p:nvPr/>
        </p:nvSpPr>
        <p:spPr>
          <a:xfrm>
            <a:off x="6983634" y="1369219"/>
            <a:ext cx="959420" cy="434806"/>
          </a:xfrm>
          <a:prstGeom prst="rect">
            <a:avLst/>
          </a:prstGeom>
          <a:noFill/>
          <a:ln>
            <a:noFill/>
          </a:ln>
        </p:spPr>
        <p:txBody>
          <a:bodyPr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FEASIBILIY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ANALYSIS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3" name="Shape 616">
            <a:extLst>
              <a:ext uri="{FF2B5EF4-FFF2-40B4-BE49-F238E27FC236}">
                <a16:creationId xmlns:a16="http://schemas.microsoft.com/office/drawing/2014/main" xmlns="" id="{E968292E-8BAA-4504-95FC-EAB731E8F993}"/>
              </a:ext>
            </a:extLst>
          </p:cNvPr>
          <p:cNvSpPr txBox="1">
            <a:spLocks/>
          </p:cNvSpPr>
          <p:nvPr/>
        </p:nvSpPr>
        <p:spPr>
          <a:xfrm>
            <a:off x="1859242" y="1310208"/>
            <a:ext cx="904883" cy="432054"/>
          </a:xfrm>
          <a:prstGeom prst="rect">
            <a:avLst/>
          </a:prstGeom>
          <a:noFill/>
          <a:ln>
            <a:noFill/>
          </a:ln>
        </p:spPr>
        <p:txBody>
          <a:bodyPr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ct val="25000"/>
            </a:pPr>
            <a:r>
              <a:rPr lang="tr-TR" sz="11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DATA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tr-TR" sz="1200" dirty="0" smtClean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algn="ctr">
              <a:buSzPct val="25000"/>
            </a:pPr>
            <a:r>
              <a:rPr lang="tr-TR" sz="1100" dirty="0" smtClean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RESEARCH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261A6650-8194-45A5-BCB4-86F131D33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101047"/>
              </p:ext>
            </p:extLst>
          </p:nvPr>
        </p:nvGraphicFramePr>
        <p:xfrm>
          <a:off x="-11172" y="1729385"/>
          <a:ext cx="794088" cy="3744416"/>
        </p:xfrm>
        <a:graphic>
          <a:graphicData uri="http://schemas.openxmlformats.org/drawingml/2006/table">
            <a:tbl>
              <a:tblPr firstRow="1" bandRow="1"/>
              <a:tblGrid>
                <a:gridCol w="794088">
                  <a:extLst>
                    <a:ext uri="{9D8B030D-6E8A-4147-A177-3AD203B41FA5}">
                      <a16:colId xmlns:a16="http://schemas.microsoft.com/office/drawing/2014/main" xmlns="" val="2604905540"/>
                    </a:ext>
                  </a:extLst>
                </a:gridCol>
              </a:tblGrid>
              <a:tr h="985905"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9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PROBLEM DEFINITION</a:t>
                      </a:r>
                      <a:endParaRPr lang="tr-TR" sz="9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60000523"/>
                  </a:ext>
                </a:extLst>
              </a:tr>
              <a:tr h="537953"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9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PROJECT                   GOAL</a:t>
                      </a:r>
                      <a:endParaRPr lang="tr-TR" sz="9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74293961"/>
                  </a:ext>
                </a:extLst>
              </a:tr>
              <a:tr h="803320"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9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PROJECT SOLUTION</a:t>
                      </a:r>
                      <a:endParaRPr lang="tr-TR" sz="9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01242482"/>
                  </a:ext>
                </a:extLst>
              </a:tr>
              <a:tr h="785643"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9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LITERATURE RESEARCH</a:t>
                      </a:r>
                      <a:endParaRPr lang="tr-TR" sz="9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55708858"/>
                  </a:ext>
                </a:extLst>
              </a:tr>
              <a:tr h="631595">
                <a:tc>
                  <a:txBody>
                    <a:bodyPr/>
                    <a:lstStyle/>
                    <a:p>
                      <a:pPr algn="ctr" rtl="0" fontAlgn="ctr"/>
                      <a:endParaRPr lang="tr-TR" sz="9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46779057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80CC194B-1D2F-4975-9166-D0E0682A2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70485"/>
              </p:ext>
            </p:extLst>
          </p:nvPr>
        </p:nvGraphicFramePr>
        <p:xfrm>
          <a:off x="1143654" y="1863823"/>
          <a:ext cx="946785" cy="3820237"/>
        </p:xfrm>
        <a:graphic>
          <a:graphicData uri="http://schemas.openxmlformats.org/drawingml/2006/table">
            <a:tbl>
              <a:tblPr firstRow="1" bandRow="1"/>
              <a:tblGrid>
                <a:gridCol w="946785">
                  <a:extLst>
                    <a:ext uri="{9D8B030D-6E8A-4147-A177-3AD203B41FA5}">
                      <a16:colId xmlns:a16="http://schemas.microsoft.com/office/drawing/2014/main" xmlns="" val="2447778570"/>
                    </a:ext>
                  </a:extLst>
                </a:gridCol>
              </a:tblGrid>
              <a:tr h="7060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kern="1200" cap="none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QUALITATIVE RESEARCH</a:t>
                      </a:r>
                    </a:p>
                  </a:txBody>
                  <a:tcPr marL="7371" marR="7371" marT="7371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74628043"/>
                  </a:ext>
                </a:extLst>
              </a:tr>
              <a:tr h="6274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kern="1200" cap="none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ea typeface="+mn-ea"/>
                          <a:cs typeface="Arial"/>
                        </a:rPr>
                        <a:t>BENCHMARKING </a:t>
                      </a:r>
                      <a:endParaRPr lang="en-US" sz="900" b="1" i="0" u="none" strike="noStrike" kern="1200" cap="none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entury Gothic" panose="020B0502020202020204" pitchFamily="34" charset="0"/>
                        <a:ea typeface="+mn-ea"/>
                        <a:cs typeface="Arial"/>
                      </a:endParaRPr>
                    </a:p>
                  </a:txBody>
                  <a:tcPr marL="7371" marR="7371" marT="7371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6242402"/>
                  </a:ext>
                </a:extLst>
              </a:tr>
              <a:tr h="6934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kern="1200" cap="none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BUSINESS MODEL CANVAS</a:t>
                      </a:r>
                      <a:endParaRPr lang="tr-TR" sz="900" b="1" i="0" u="none" strike="noStrike" kern="1200" cap="none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7371" marR="7371" marT="7371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43401829"/>
                  </a:ext>
                </a:extLst>
              </a:tr>
              <a:tr h="5648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kern="1200" cap="none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STAKEHOLDER</a:t>
                      </a:r>
                      <a:r>
                        <a:rPr lang="tr-TR" sz="900" b="1" i="0" u="none" strike="noStrike" kern="1200" cap="none" baseline="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 ANALYSIS</a:t>
                      </a:r>
                      <a:endParaRPr lang="tr-TR" sz="900" b="1" i="0" u="none" strike="noStrike" kern="1200" cap="none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kern="1200" cap="none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7371" marR="7371" marT="7371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77189526"/>
                  </a:ext>
                </a:extLst>
              </a:tr>
              <a:tr h="49424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kern="1200" cap="none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RESEARCH OUTPUTS</a:t>
                      </a:r>
                    </a:p>
                  </a:txBody>
                  <a:tcPr marL="7371" marR="7371" marT="7371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86914921"/>
                  </a:ext>
                </a:extLst>
              </a:tr>
              <a:tr h="7341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kern="1200" cap="none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RISK ANALYSIS</a:t>
                      </a:r>
                      <a:endParaRPr lang="en-US" sz="900" b="1" i="0" u="none" strike="noStrike" kern="1200" cap="none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7371" marR="7371" marT="7371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39928631"/>
                  </a:ext>
                </a:extLst>
              </a:tr>
            </a:tbl>
          </a:graphicData>
        </a:graphic>
      </p:graphicFrame>
      <p:pic>
        <p:nvPicPr>
          <p:cNvPr id="75" name="Picture 74">
            <a:extLst>
              <a:ext uri="{FF2B5EF4-FFF2-40B4-BE49-F238E27FC236}">
                <a16:creationId xmlns:a16="http://schemas.microsoft.com/office/drawing/2014/main" xmlns="" id="{9E380305-B766-445F-9E59-6A05DBE07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63" y="2060848"/>
            <a:ext cx="420660" cy="32921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xmlns="" id="{88681CB4-9A64-419D-814B-FC99506E3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2" y="2814457"/>
            <a:ext cx="420660" cy="32921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xmlns="" id="{62623AAE-9DC0-4A9B-B2E5-677C78AA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4" y="3493254"/>
            <a:ext cx="420660" cy="32921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xmlns="" id="{E92203B1-068F-41B1-8D37-A891542E3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4" y="4305981"/>
            <a:ext cx="420660" cy="329213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xmlns="" id="{30D8965D-52D8-4539-A87C-BF8691ACE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06945"/>
              </p:ext>
            </p:extLst>
          </p:nvPr>
        </p:nvGraphicFramePr>
        <p:xfrm>
          <a:off x="2592500" y="2060848"/>
          <a:ext cx="859688" cy="4600297"/>
        </p:xfrm>
        <a:graphic>
          <a:graphicData uri="http://schemas.openxmlformats.org/drawingml/2006/table">
            <a:tbl>
              <a:tblPr firstRow="1" bandRow="1"/>
              <a:tblGrid>
                <a:gridCol w="859688">
                  <a:extLst>
                    <a:ext uri="{9D8B030D-6E8A-4147-A177-3AD203B41FA5}">
                      <a16:colId xmlns:a16="http://schemas.microsoft.com/office/drawing/2014/main" xmlns="" val="1511742616"/>
                    </a:ext>
                  </a:extLst>
                </a:gridCol>
              </a:tblGrid>
              <a:tr h="61174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PROCESS</a:t>
                      </a:r>
                      <a:r>
                        <a:rPr lang="tr-TR" sz="900" b="1" i="0" u="none" strike="noStrike" cap="none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FLOW DESIGN</a:t>
                      </a:r>
                      <a:endParaRPr lang="tr-TR" sz="9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8593" marR="8593" marT="859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45792878"/>
                  </a:ext>
                </a:extLst>
              </a:tr>
              <a:tr h="251808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cap="non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BUSINESS</a:t>
                      </a:r>
                      <a:r>
                        <a:rPr lang="tr-TR" sz="900" b="1" i="0" u="none" strike="noStrike" cap="none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 MODEL DEVELOPMENT</a:t>
                      </a: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cap="non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PRODUCTION &amp; SUPPLY CHAIN</a:t>
                      </a:r>
                      <a:r>
                        <a:rPr lang="tr-TR" sz="900" b="1" i="0" u="none" strike="noStrike" cap="none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 STRUCTURE</a:t>
                      </a: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cap="non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COOPERATIVE &amp; COMMUNITY ENGAGEMENT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cap="non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WEBSITE</a:t>
                      </a:r>
                      <a:r>
                        <a:rPr lang="tr-TR" sz="900" b="1" i="0" u="none" strike="noStrike" cap="none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tr-TR" sz="900" b="1" i="0" u="none" strike="noStrike" cap="non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/>
                          <a:sym typeface="Arial"/>
                        </a:rPr>
                        <a:t>DESIGN &amp; DEVELOPMENT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8593" marR="8593" marT="859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2215924"/>
                  </a:ext>
                </a:extLst>
              </a:tr>
              <a:tr h="560761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8593" marR="8593" marT="859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12895141"/>
                  </a:ext>
                </a:extLst>
              </a:tr>
              <a:tr h="43601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8593" marR="8593" marT="859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6380167"/>
                  </a:ext>
                </a:extLst>
              </a:tr>
              <a:tr h="377148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/>
                        <a:sym typeface="Arial"/>
                      </a:endParaRPr>
                    </a:p>
                  </a:txBody>
                  <a:tcPr marL="8593" marR="8593" marT="859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64065815"/>
                  </a:ext>
                </a:extLst>
              </a:tr>
            </a:tbl>
          </a:graphicData>
        </a:graphic>
      </p:graphicFrame>
      <p:sp>
        <p:nvSpPr>
          <p:cNvPr id="64" name="Oval 63">
            <a:extLst>
              <a:ext uri="{FF2B5EF4-FFF2-40B4-BE49-F238E27FC236}">
                <a16:creationId xmlns:a16="http://schemas.microsoft.com/office/drawing/2014/main" xmlns="" id="{FF184DA5-82E3-4C93-B46C-2E45E3C6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276" y="2053856"/>
            <a:ext cx="416429" cy="32828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xmlns="" id="{1524F739-0CA9-45F5-9A2D-A3AB96086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818" y="2083428"/>
            <a:ext cx="415901" cy="3156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22A8E71-A8B7-480F-9047-49EF96EC196F}"/>
              </a:ext>
            </a:extLst>
          </p:cNvPr>
          <p:cNvSpPr/>
          <p:nvPr/>
        </p:nvSpPr>
        <p:spPr>
          <a:xfrm>
            <a:off x="3806943" y="2000497"/>
            <a:ext cx="9505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tr-TR" sz="9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BRANDING &amp; POSITIONING STRATEGY</a:t>
            </a:r>
            <a:endParaRPr lang="tr-TR" sz="9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xmlns="" id="{63E46AD7-F734-47B9-B4F7-E91FB946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117165"/>
              </p:ext>
            </p:extLst>
          </p:nvPr>
        </p:nvGraphicFramePr>
        <p:xfrm>
          <a:off x="5067365" y="2087810"/>
          <a:ext cx="1001239" cy="3346624"/>
        </p:xfrm>
        <a:graphic>
          <a:graphicData uri="http://schemas.openxmlformats.org/drawingml/2006/table">
            <a:tbl>
              <a:tblPr firstRow="1" bandRow="1"/>
              <a:tblGrid>
                <a:gridCol w="1001239">
                  <a:extLst>
                    <a:ext uri="{9D8B030D-6E8A-4147-A177-3AD203B41FA5}">
                      <a16:colId xmlns:a16="http://schemas.microsoft.com/office/drawing/2014/main" xmlns="" val="109705632"/>
                    </a:ext>
                  </a:extLst>
                </a:gridCol>
              </a:tblGrid>
              <a:tr h="51887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REVENUE </a:t>
                      </a:r>
                      <a:r>
                        <a:rPr lang="tr-TR" sz="900" b="1" i="0" u="none" strike="noStrike" cap="non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STRUCTURE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64540775"/>
                  </a:ext>
                </a:extLst>
              </a:tr>
              <a:tr h="508549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COST </a:t>
                      </a:r>
                      <a:r>
                        <a:rPr lang="tr-TR" sz="900" b="1" i="0" u="none" strike="noStrike" cap="non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STRUCTURE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04726024"/>
                  </a:ext>
                </a:extLst>
              </a:tr>
              <a:tr h="72927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NPV </a:t>
                      </a:r>
                      <a:r>
                        <a:rPr lang="tr-TR" sz="900" b="1" i="0" u="none" strike="noStrike" cap="non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&amp; </a:t>
                      </a:r>
                      <a:r>
                        <a:rPr lang="tr-TR" sz="900" b="1" i="0" u="none" strike="noStrike" cap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ROI </a:t>
                      </a:r>
                      <a:r>
                        <a:rPr lang="tr-TR" sz="900" b="1" i="0" u="none" strike="noStrike" cap="non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CALCULATION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PRICING</a:t>
                      </a:r>
                      <a:r>
                        <a:rPr lang="tr-TR" sz="900" b="1" i="0" u="none" strike="noStrike" cap="none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 STRATEGY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baseline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900" b="1" i="0" u="none" strike="noStrike" cap="none" baseline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8037570"/>
                  </a:ext>
                </a:extLst>
              </a:tr>
              <a:tr h="849169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900" b="1" i="0" u="none" strike="noStrike" cap="non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INVESTMENT</a:t>
                      </a:r>
                      <a:r>
                        <a:rPr lang="tr-TR" sz="900" b="1" i="0" u="none" strike="noStrike" cap="none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Arial"/>
                          <a:sym typeface="Arial"/>
                        </a:rPr>
                        <a:t> &amp; FUNDING OPPORTUNITIRES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94640397"/>
                  </a:ext>
                </a:extLst>
              </a:tr>
            </a:tbl>
          </a:graphicData>
        </a:graphic>
      </p:graphicFrame>
      <p:sp>
        <p:nvSpPr>
          <p:cNvPr id="73" name="Oval 72">
            <a:extLst>
              <a:ext uri="{FF2B5EF4-FFF2-40B4-BE49-F238E27FC236}">
                <a16:creationId xmlns:a16="http://schemas.microsoft.com/office/drawing/2014/main" xmlns="" id="{CC73BABE-7862-4953-99B9-EC1A6BF7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789" y="2076196"/>
            <a:ext cx="447810" cy="330092"/>
          </a:xfrm>
          <a:prstGeom prst="ellipse">
            <a:avLst/>
          </a:prstGeom>
          <a:solidFill>
            <a:schemeClr val="bg1">
              <a:lumMod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xmlns="" id="{9A95CC08-44A4-43AB-A218-E4CB1DAEA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091294"/>
              </p:ext>
            </p:extLst>
          </p:nvPr>
        </p:nvGraphicFramePr>
        <p:xfrm>
          <a:off x="6440939" y="2079296"/>
          <a:ext cx="816781" cy="2396246"/>
        </p:xfrm>
        <a:graphic>
          <a:graphicData uri="http://schemas.openxmlformats.org/drawingml/2006/table">
            <a:tbl>
              <a:tblPr firstRow="1" bandRow="1"/>
              <a:tblGrid>
                <a:gridCol w="816781">
                  <a:extLst>
                    <a:ext uri="{9D8B030D-6E8A-4147-A177-3AD203B41FA5}">
                      <a16:colId xmlns:a16="http://schemas.microsoft.com/office/drawing/2014/main" xmlns="" val="4004162835"/>
                    </a:ext>
                  </a:extLst>
                </a:gridCol>
              </a:tblGrid>
              <a:tr h="685653"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i="0" u="none" strike="noStrike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OPERATIONAL FEASIBILITY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19132967"/>
                  </a:ext>
                </a:extLst>
              </a:tr>
              <a:tr h="507891">
                <a:tc>
                  <a:txBody>
                    <a:bodyPr/>
                    <a:lstStyle/>
                    <a:p>
                      <a:pPr algn="ctr" fontAlgn="t"/>
                      <a:r>
                        <a:rPr lang="tr-TR" sz="900" b="1" i="0" u="none" strike="noStrike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ECONOMIC FEASIBILITY</a:t>
                      </a:r>
                    </a:p>
                    <a:p>
                      <a:pPr algn="ctr" fontAlgn="t"/>
                      <a:endParaRPr lang="tr-TR" sz="900" b="1" i="0" u="none" strike="noStrike" dirty="0" smtClean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ctr" fontAlgn="t"/>
                      <a:endParaRPr lang="tr-TR" sz="900" b="1" i="0" u="none" strike="noStrike" dirty="0" smtClean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25465526"/>
                  </a:ext>
                </a:extLst>
              </a:tr>
              <a:tr h="380919">
                <a:tc>
                  <a:txBody>
                    <a:bodyPr/>
                    <a:lstStyle/>
                    <a:p>
                      <a:pPr algn="ctr" fontAlgn="t"/>
                      <a:r>
                        <a:rPr lang="tr-TR" sz="900" b="1" i="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LEGAL  </a:t>
                      </a:r>
                      <a:r>
                        <a:rPr lang="tr-TR" sz="900" b="1" i="0" u="none" strike="noStrike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FEASIBILITY</a:t>
                      </a:r>
                    </a:p>
                    <a:p>
                      <a:pPr algn="ctr" fontAlgn="t"/>
                      <a:endParaRPr lang="tr-TR" sz="900" b="1" i="0" u="none" strike="noStrike" dirty="0" smtClean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ctr" fontAlgn="t"/>
                      <a:endParaRPr lang="tr-TR" sz="900" b="1" i="0" u="none" strike="noStrike" dirty="0" smtClean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ctr" fontAlgn="t"/>
                      <a:endParaRPr lang="tr-TR" sz="900" b="1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65495579"/>
                  </a:ext>
                </a:extLst>
              </a:tr>
              <a:tr h="457103">
                <a:tc>
                  <a:txBody>
                    <a:bodyPr/>
                    <a:lstStyle/>
                    <a:p>
                      <a:pPr algn="ctr" fontAlgn="t"/>
                      <a:r>
                        <a:rPr lang="tr-TR" sz="900" b="1" i="0" u="none" strike="noStrike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SOCIAL</a:t>
                      </a:r>
                      <a:r>
                        <a:rPr lang="tr-TR" sz="900" b="1" i="0" u="none" strike="noStrike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 FEASIBILITY</a:t>
                      </a:r>
                      <a:endParaRPr lang="tr-TR" sz="900" b="1" i="0" u="none" strike="noStrike" dirty="0" smtClean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9669351"/>
                  </a:ext>
                </a:extLst>
              </a:tr>
            </a:tbl>
          </a:graphicData>
        </a:graphic>
      </p:graphicFrame>
      <p:sp>
        <p:nvSpPr>
          <p:cNvPr id="83" name="Oval 82">
            <a:extLst>
              <a:ext uri="{FF2B5EF4-FFF2-40B4-BE49-F238E27FC236}">
                <a16:creationId xmlns:a16="http://schemas.microsoft.com/office/drawing/2014/main" xmlns="" id="{5B99FBED-E565-4381-9BB9-9D8DD42B8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951" y="2024404"/>
            <a:ext cx="454940" cy="359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xmlns="" id="{D78D5DAA-A964-4E1F-BAA5-C2D4E41A1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06695"/>
              </p:ext>
            </p:extLst>
          </p:nvPr>
        </p:nvGraphicFramePr>
        <p:xfrm>
          <a:off x="7647585" y="1827674"/>
          <a:ext cx="988549" cy="2376265"/>
        </p:xfrm>
        <a:graphic>
          <a:graphicData uri="http://schemas.openxmlformats.org/drawingml/2006/table">
            <a:tbl>
              <a:tblPr firstRow="1" bandRow="1"/>
              <a:tblGrid>
                <a:gridCol w="988549">
                  <a:extLst>
                    <a:ext uri="{9D8B030D-6E8A-4147-A177-3AD203B41FA5}">
                      <a16:colId xmlns:a16="http://schemas.microsoft.com/office/drawing/2014/main" xmlns="" val="3796655291"/>
                    </a:ext>
                  </a:extLst>
                </a:gridCol>
              </a:tblGrid>
              <a:tr h="790411"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900" b="1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FINAL EVALUATION</a:t>
                      </a:r>
                      <a:endParaRPr lang="tr-TR" sz="9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844" marR="7844" marT="7844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8294310"/>
                  </a:ext>
                </a:extLst>
              </a:tr>
              <a:tr h="707619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900" b="1" u="none" strike="noStrike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850" b="1" u="none" strike="noStrike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IMPLEMENTATION ROADMAP</a:t>
                      </a:r>
                      <a:endParaRPr lang="en-US" sz="850" b="1" u="none" strike="noStrike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ctr"/>
                      <a:endParaRPr lang="tr-TR" sz="9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844" marR="7844" marT="7844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39732088"/>
                  </a:ext>
                </a:extLst>
              </a:tr>
              <a:tr h="878235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900" b="1" u="none" strike="noStrike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SUSTAINABILITY PLAN</a:t>
                      </a:r>
                      <a:endParaRPr lang="en-US" sz="900" b="1" u="none" strike="noStrike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ctr"/>
                      <a:endParaRPr lang="en-US" sz="9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844" marR="7844" marT="7844" marB="0" anchor="ctr">
                    <a:lnL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80341783"/>
                  </a:ext>
                </a:extLst>
              </a:tr>
            </a:tbl>
          </a:graphicData>
        </a:graphic>
      </p:graphicFrame>
      <p:sp>
        <p:nvSpPr>
          <p:cNvPr id="93" name="Oval 92">
            <a:extLst>
              <a:ext uri="{FF2B5EF4-FFF2-40B4-BE49-F238E27FC236}">
                <a16:creationId xmlns:a16="http://schemas.microsoft.com/office/drawing/2014/main" xmlns="" id="{241FCE12-30A5-4437-8FC2-F28564F4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238" y="2043645"/>
            <a:ext cx="472667" cy="355412"/>
          </a:xfrm>
          <a:prstGeom prst="ellipse">
            <a:avLst/>
          </a:prstGeom>
          <a:solidFill>
            <a:srgbClr val="835B83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736443" y="1965292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6" name="Metin kutusu 95"/>
          <p:cNvSpPr txBox="1"/>
          <p:nvPr/>
        </p:nvSpPr>
        <p:spPr>
          <a:xfrm>
            <a:off x="741093" y="2717739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Metin kutusu 98"/>
          <p:cNvSpPr txBox="1"/>
          <p:nvPr/>
        </p:nvSpPr>
        <p:spPr>
          <a:xfrm>
            <a:off x="750821" y="3396569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0" name="Metin kutusu 99"/>
          <p:cNvSpPr txBox="1"/>
          <p:nvPr/>
        </p:nvSpPr>
        <p:spPr>
          <a:xfrm>
            <a:off x="738625" y="4203939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xmlns="" id="{0358451F-B7F5-4205-9869-7D461A7B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757" y="2726378"/>
            <a:ext cx="423885" cy="325383"/>
          </a:xfrm>
          <a:prstGeom prst="ellipse">
            <a:avLst/>
          </a:prstGeom>
          <a:solidFill>
            <a:schemeClr val="accent5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xmlns="" id="{0358451F-B7F5-4205-9869-7D461A7B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187" y="3396569"/>
            <a:ext cx="423885" cy="325383"/>
          </a:xfrm>
          <a:prstGeom prst="ellipse">
            <a:avLst/>
          </a:prstGeom>
          <a:solidFill>
            <a:schemeClr val="accent5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xmlns="" id="{0358451F-B7F5-4205-9869-7D461A7B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016" y="3962725"/>
            <a:ext cx="423885" cy="325383"/>
          </a:xfrm>
          <a:prstGeom prst="ellipse">
            <a:avLst/>
          </a:prstGeom>
          <a:solidFill>
            <a:schemeClr val="accent5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xmlns="" id="{0358451F-B7F5-4205-9869-7D461A7B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777" y="4552748"/>
            <a:ext cx="423885" cy="325383"/>
          </a:xfrm>
          <a:prstGeom prst="ellipse">
            <a:avLst/>
          </a:prstGeom>
          <a:solidFill>
            <a:schemeClr val="accent5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xmlns="" id="{0358451F-B7F5-4205-9869-7D461A7B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757" y="5165027"/>
            <a:ext cx="423885" cy="325383"/>
          </a:xfrm>
          <a:prstGeom prst="ellipse">
            <a:avLst/>
          </a:prstGeom>
          <a:solidFill>
            <a:schemeClr val="accent5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/>
          </a:p>
        </p:txBody>
      </p:sp>
      <p:sp>
        <p:nvSpPr>
          <p:cNvPr id="108" name="Metin kutusu 107"/>
          <p:cNvSpPr txBox="1"/>
          <p:nvPr/>
        </p:nvSpPr>
        <p:spPr>
          <a:xfrm>
            <a:off x="2121782" y="2628741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9" name="Metin kutusu 108"/>
          <p:cNvSpPr txBox="1"/>
          <p:nvPr/>
        </p:nvSpPr>
        <p:spPr>
          <a:xfrm>
            <a:off x="2112810" y="1937458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0" name="Metin kutusu 109"/>
          <p:cNvSpPr txBox="1"/>
          <p:nvPr/>
        </p:nvSpPr>
        <p:spPr>
          <a:xfrm>
            <a:off x="2124274" y="3862187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1" name="Metin kutusu 110"/>
          <p:cNvSpPr txBox="1"/>
          <p:nvPr/>
        </p:nvSpPr>
        <p:spPr>
          <a:xfrm>
            <a:off x="2123694" y="4464087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2" name="Metin kutusu 111"/>
          <p:cNvSpPr txBox="1"/>
          <p:nvPr/>
        </p:nvSpPr>
        <p:spPr>
          <a:xfrm>
            <a:off x="2123694" y="5057716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xmlns="" id="{FF184DA5-82E3-4C93-B46C-2E45E3C6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277" y="2719472"/>
            <a:ext cx="416429" cy="32828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xmlns="" id="{FF184DA5-82E3-4C93-B46C-2E45E3C6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577" y="3395119"/>
            <a:ext cx="416429" cy="32828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xmlns="" id="{FF184DA5-82E3-4C93-B46C-2E45E3C6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696" y="4083230"/>
            <a:ext cx="416429" cy="32828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xmlns="" id="{FF184DA5-82E3-4C93-B46C-2E45E3C6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276" y="4796270"/>
            <a:ext cx="416429" cy="32828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17" name="Metin kutusu 116"/>
          <p:cNvSpPr txBox="1"/>
          <p:nvPr/>
        </p:nvSpPr>
        <p:spPr>
          <a:xfrm>
            <a:off x="3470308" y="1956450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xmlns="" id="{CC73BABE-7862-4953-99B9-EC1A6BF7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237" y="2681663"/>
            <a:ext cx="447810" cy="330092"/>
          </a:xfrm>
          <a:prstGeom prst="ellipse">
            <a:avLst/>
          </a:prstGeom>
          <a:solidFill>
            <a:schemeClr val="bg1">
              <a:lumMod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xmlns="" id="{CC73BABE-7862-4953-99B9-EC1A6BF7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789" y="3327695"/>
            <a:ext cx="447810" cy="330092"/>
          </a:xfrm>
          <a:prstGeom prst="ellipse">
            <a:avLst/>
          </a:prstGeom>
          <a:solidFill>
            <a:schemeClr val="bg1">
              <a:lumMod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xmlns="" id="{CC73BABE-7862-4953-99B9-EC1A6BF7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367" y="4013520"/>
            <a:ext cx="447810" cy="330092"/>
          </a:xfrm>
          <a:prstGeom prst="ellipse">
            <a:avLst/>
          </a:prstGeom>
          <a:solidFill>
            <a:schemeClr val="bg1">
              <a:lumMod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xmlns="" id="{5B99FBED-E565-4381-9BB9-9D8DD42B8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8569" y="2723706"/>
            <a:ext cx="454940" cy="359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xmlns="" id="{5B99FBED-E565-4381-9BB9-9D8DD42B8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951" y="3299451"/>
            <a:ext cx="454940" cy="359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xmlns="" id="{5B99FBED-E565-4381-9BB9-9D8DD42B8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7044" y="3998753"/>
            <a:ext cx="454940" cy="359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xmlns="" id="{241FCE12-30A5-4437-8FC2-F28564F4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8970" y="2770865"/>
            <a:ext cx="472667" cy="355412"/>
          </a:xfrm>
          <a:prstGeom prst="ellipse">
            <a:avLst/>
          </a:prstGeom>
          <a:solidFill>
            <a:srgbClr val="835B83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xmlns="" id="{241FCE12-30A5-4437-8FC2-F28564F4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8970" y="3530289"/>
            <a:ext cx="472667" cy="355412"/>
          </a:xfrm>
          <a:prstGeom prst="ellipse">
            <a:avLst/>
          </a:prstGeom>
          <a:solidFill>
            <a:srgbClr val="835B83"/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6" name="Metin kutusu 125"/>
          <p:cNvSpPr txBox="1"/>
          <p:nvPr/>
        </p:nvSpPr>
        <p:spPr>
          <a:xfrm>
            <a:off x="6067343" y="1973383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7" name="Metin kutusu 126"/>
          <p:cNvSpPr txBox="1"/>
          <p:nvPr/>
        </p:nvSpPr>
        <p:spPr>
          <a:xfrm>
            <a:off x="6051258" y="2565420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xmlns="" id="{1524F739-0CA9-45F5-9A2D-A3AB96086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113" y="2712968"/>
            <a:ext cx="415901" cy="3156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29" name="Rectangle 22">
            <a:extLst>
              <a:ext uri="{FF2B5EF4-FFF2-40B4-BE49-F238E27FC236}">
                <a16:creationId xmlns:a16="http://schemas.microsoft.com/office/drawing/2014/main" xmlns="" id="{C22A8E71-A8B7-480F-9047-49EF96EC196F}"/>
              </a:ext>
            </a:extLst>
          </p:cNvPr>
          <p:cNvSpPr/>
          <p:nvPr/>
        </p:nvSpPr>
        <p:spPr>
          <a:xfrm>
            <a:off x="3787221" y="2697628"/>
            <a:ext cx="945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tr-TR" sz="9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DIGITAL MARKETING</a:t>
            </a:r>
            <a:endParaRPr lang="tr-TR" sz="9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2" name="Rectangle 22">
            <a:extLst>
              <a:ext uri="{FF2B5EF4-FFF2-40B4-BE49-F238E27FC236}">
                <a16:creationId xmlns:a16="http://schemas.microsoft.com/office/drawing/2014/main" xmlns="" id="{C22A8E71-A8B7-480F-9047-49EF96EC196F}"/>
              </a:ext>
            </a:extLst>
          </p:cNvPr>
          <p:cNvSpPr/>
          <p:nvPr/>
        </p:nvSpPr>
        <p:spPr>
          <a:xfrm>
            <a:off x="3745678" y="3346769"/>
            <a:ext cx="1075713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tr-TR" sz="85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CAMPAIGNS &amp; ADVERTISEMENT PLAN</a:t>
            </a:r>
            <a:endParaRPr lang="tr-TR" sz="85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xmlns="" id="{1524F739-0CA9-45F5-9A2D-A3AB96086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809" y="3421997"/>
            <a:ext cx="415901" cy="3156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xmlns="" id="{CC73BABE-7862-4953-99B9-EC1A6BF7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237" y="4635194"/>
            <a:ext cx="447810" cy="330092"/>
          </a:xfrm>
          <a:prstGeom prst="ellipse">
            <a:avLst/>
          </a:prstGeom>
          <a:solidFill>
            <a:schemeClr val="bg1">
              <a:lumMod val="50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81" name="Metin kutusu 80"/>
          <p:cNvSpPr txBox="1"/>
          <p:nvPr/>
        </p:nvSpPr>
        <p:spPr>
          <a:xfrm>
            <a:off x="2131586" y="3299457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2" name="Metin kutusu 81"/>
          <p:cNvSpPr txBox="1"/>
          <p:nvPr/>
        </p:nvSpPr>
        <p:spPr>
          <a:xfrm>
            <a:off x="3465305" y="2607368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✓</a:t>
            </a:r>
            <a:endParaRPr lang="tr-TR" sz="1100" b="1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4" name="Rectangle 22">
            <a:extLst>
              <a:ext uri="{FF2B5EF4-FFF2-40B4-BE49-F238E27FC236}">
                <a16:creationId xmlns:a16="http://schemas.microsoft.com/office/drawing/2014/main" xmlns="" id="{C22A8E71-A8B7-480F-9047-49EF96EC196F}"/>
              </a:ext>
            </a:extLst>
          </p:cNvPr>
          <p:cNvSpPr/>
          <p:nvPr/>
        </p:nvSpPr>
        <p:spPr>
          <a:xfrm>
            <a:off x="3720437" y="4057256"/>
            <a:ext cx="107571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tr-TR" sz="85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CUSTOMER RELATIONS</a:t>
            </a:r>
            <a:endParaRPr lang="tr-TR" sz="85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xmlns="" id="{1524F739-0CA9-45F5-9A2D-A3AB96086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809" y="4089555"/>
            <a:ext cx="415901" cy="3156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57150" algn="ctr">
            <a:noFill/>
            <a:round/>
            <a:headEnd/>
            <a:tailEnd/>
          </a:ln>
        </p:spPr>
        <p:txBody>
          <a:bodyPr lIns="0" rIns="0" anchor="ctr" anchorCtr="1"/>
          <a:lstStyle/>
          <a:p>
            <a:pPr algn="ctr"/>
            <a:endParaRPr lang="en-US" sz="110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4" name="Metin kutusu 83"/>
          <p:cNvSpPr txBox="1"/>
          <p:nvPr/>
        </p:nvSpPr>
        <p:spPr>
          <a:xfrm>
            <a:off x="6037170" y="3203761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5" name="Metin kutusu 84"/>
          <p:cNvSpPr txBox="1"/>
          <p:nvPr/>
        </p:nvSpPr>
        <p:spPr>
          <a:xfrm>
            <a:off x="6037170" y="3891832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1" name="Metin kutusu 90"/>
          <p:cNvSpPr txBox="1"/>
          <p:nvPr/>
        </p:nvSpPr>
        <p:spPr>
          <a:xfrm>
            <a:off x="6048424" y="4519980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7" name="Metin kutusu 96"/>
          <p:cNvSpPr txBox="1"/>
          <p:nvPr/>
        </p:nvSpPr>
        <p:spPr>
          <a:xfrm>
            <a:off x="7259228" y="2628741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Metin kutusu 97"/>
          <p:cNvSpPr txBox="1"/>
          <p:nvPr/>
        </p:nvSpPr>
        <p:spPr>
          <a:xfrm>
            <a:off x="3459167" y="3277419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1" name="Metin kutusu 100"/>
          <p:cNvSpPr txBox="1"/>
          <p:nvPr/>
        </p:nvSpPr>
        <p:spPr>
          <a:xfrm>
            <a:off x="4690665" y="1960289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4" name="Metin kutusu 133"/>
          <p:cNvSpPr txBox="1"/>
          <p:nvPr/>
        </p:nvSpPr>
        <p:spPr>
          <a:xfrm>
            <a:off x="7248282" y="3902076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✓</a:t>
            </a:r>
            <a:endParaRPr lang="tr-TR" sz="11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6" name="Dikdörtgen 135"/>
          <p:cNvSpPr/>
          <p:nvPr/>
        </p:nvSpPr>
        <p:spPr>
          <a:xfrm>
            <a:off x="0" y="260648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Project </a:t>
            </a:r>
            <a:r>
              <a:rPr lang="tr-TR" sz="2600" b="1" dirty="0" err="1" smtClean="0"/>
              <a:t>Pulse</a:t>
            </a:r>
            <a:endParaRPr lang="tr-TR" sz="2600" b="1" dirty="0" smtClean="0"/>
          </a:p>
        </p:txBody>
      </p:sp>
    </p:spTree>
    <p:extLst>
      <p:ext uri="{BB962C8B-B14F-4D97-AF65-F5344CB8AC3E}">
        <p14:creationId xmlns:p14="http://schemas.microsoft.com/office/powerpoint/2010/main" val="197511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04664" y="836712"/>
            <a:ext cx="8315808" cy="5328592"/>
          </a:xfrm>
        </p:spPr>
        <p:txBody>
          <a:bodyPr>
            <a:no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ms.hmb.gov.tr/uploads/2024/09/Web_Kamu_Borc_Yonetimi_Raporu_Agustos_2024.pdf</a:t>
            </a:r>
            <a:endParaRPr lang="tr-TR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tr-TR" sz="1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burdur.tarimorman.gov.tr/Lists/KutuMenu/Attachments/6/2022%20BRİFİNG%20%282%29.pdf</a:t>
            </a:r>
            <a:endParaRPr lang="tr-TR" sz="1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tr-TR" sz="1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ms.hmb.gov.tr/uploads/2025/03/Ekonomi-Sunumu_TUR.pdf</a:t>
            </a:r>
            <a:endParaRPr lang="tr-TR" sz="1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tr-TR" sz="1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iconbanyo.com/urun/ege-yildiz-32-mm-10-atu-siyah-kangal-boru-100-metre</a:t>
            </a:r>
            <a:endParaRPr lang="tr-TR" sz="1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</a:t>
            </a:r>
            <a:r>
              <a:rPr lang="tr-TR" sz="1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www.intfarming.com/tarim-aletleri/damlama-sulama-borusu/yassi-damlama-borusu-50-cm-delikli-17-lik</a:t>
            </a:r>
            <a:endParaRPr lang="tr-TR" sz="1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</a:t>
            </a:r>
            <a:r>
              <a:rPr lang="tr-TR" sz="1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www.trendyol.com/emek/vana-50-ad-damla-sulama-parcasi-aparati-damlama-borusu-hortumu-parcasi-ekleme-baglanti-parcalari-p-34374307</a:t>
            </a:r>
            <a:endParaRPr lang="tr-TR" sz="1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https://www.hepsiburada.com/seray-kalde-su-basinc-dusurucu-regulator-3-4-rakorlu-ve-manometreli-pm-HBC000010F3NM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https://www.trendyol.com/firtina-damla-sulama/2-63-ayakli-filtre-p-150180429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https://www.intfarming.com/tarim-aletleri/deliksiz-malc-naylonu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https://www.trendyol.com/sandalie/rattan-90x150-camsiz-kahve-masa-bahce-balkon-teras-p-194971985</a:t>
            </a:r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https://www.mediamarkt.com.tr/tr/product/_lenovo-ideapad-1ryzen-7-5700u16gb-ram512gb-ssd156w11laptop-gri-82r400rttx-1241318.html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https://www.trendyol.com/moonshop/paket-hidrofor-otomatik-sistem-su-pompasi-5-yil-garantili-qb60-ve-hidrofor-2-yil-garantili-p-640305394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https://www.n11.com/urun/10-adet-5-7-cm-ahsap-direk-150-cm-ahsap-direk-cit-diregi-19585127?magaza=evdekorazi#unf-review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https://www.hepsiburada.com/panel-cit-bahce-kapisi-gobek-kilitli-kollu-100x100-pm-HBC00007UIO96</a:t>
            </a:r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https://www.koctas.com.tr/veta-16t-kollu-sirt-tipi-ilaclama-makinesi-16-l/p/5000766637?_gl=1*2ifb5f*_up*MQ..*_</a:t>
            </a:r>
            <a:r>
              <a:rPr lang="en-US" sz="11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*MQ..&amp;</a:t>
            </a:r>
            <a:r>
              <a:rPr lang="en-US" sz="11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gclid</a:t>
            </a:r>
            <a:r>
              <a:rPr lang="en-US" sz="1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=CjwKCAjw5PK_BhBBEiwAL7GTPZ-XFv00jTPYvEb_WS4tyMEyQM01bhqmVNpDAwA24-3CsmygM_Vj2hoCf68QAvD_BwE&amp;gclsrc=aw.ds </a:t>
            </a:r>
            <a:endParaRPr lang="tr-TR" sz="1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/>
              <a:t>https://www.hepsiburada.com/mesut-hirdavat-mesut-sapli-kazma-pm-HBC000016M5GQ </a:t>
            </a:r>
            <a:endParaRPr lang="tr-TR" sz="1100" dirty="0" smtClean="0"/>
          </a:p>
          <a:p>
            <a:r>
              <a:rPr lang="en-US" sz="1100" dirty="0"/>
              <a:t>https://www.hepsiburada.com/renk-yapi-ruyasi-capa-duz-uclu-sapli-gurgen-sap-capa-iki-uclu-sivri-duz-fide-dibi-acmak-icin-pm-HBC000049YRT7 </a:t>
            </a:r>
            <a:endParaRPr lang="tr-TR" sz="1100" dirty="0" smtClean="0"/>
          </a:p>
          <a:p>
            <a:r>
              <a:rPr lang="en-US" sz="1100" dirty="0"/>
              <a:t>https://www.agrodaltarim.com.tr/index.php?route=product/search&amp;search=BİBER&amp;category_id=5812&amp;sub_category=true&amp;description=true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0" y="260648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err="1" smtClean="0"/>
              <a:t>References</a:t>
            </a:r>
            <a:endParaRPr lang="tr-TR" sz="2600" b="1" dirty="0" smtClean="0"/>
          </a:p>
        </p:txBody>
      </p:sp>
    </p:spTree>
    <p:extLst>
      <p:ext uri="{BB962C8B-B14F-4D97-AF65-F5344CB8AC3E}">
        <p14:creationId xmlns:p14="http://schemas.microsoft.com/office/powerpoint/2010/main" val="190135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04664" y="836712"/>
            <a:ext cx="8315808" cy="5328592"/>
          </a:xfrm>
        </p:spPr>
        <p:txBody>
          <a:bodyPr>
            <a:no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ms.hmb.gov.tr/uploads/2024/09/Web_Kamu_Borc_Yonetimi_Raporu_Agustos_2024.pdf</a:t>
            </a:r>
            <a:endParaRPr lang="tr-TR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hlinkClick r:id="rId3"/>
              </a:rPr>
              <a:t>https://</a:t>
            </a:r>
            <a:r>
              <a:rPr lang="en-US" sz="1100" dirty="0" smtClean="0">
                <a:hlinkClick r:id="rId3"/>
              </a:rPr>
              <a:t>www.hepsiburada.com/ege-arge-bahce-bel-kuregi-yesil-boyali-sapli-pm-HB00000V62VS</a:t>
            </a:r>
            <a:endParaRPr lang="tr-TR" sz="1100" dirty="0" smtClean="0"/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https://www.hepsiburada.com/fiskars-135715-1016036-solid-toprak-tirmigi-pm-hrmps135715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https://www.hepsiburada.com/fithome-sht-018-caki-tipi-180-mm-katlanir-budama-testeresi-p-HBCV00008730MD?magaza=elfenercim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https://www.hepsiburada.com/altuna-1280-cicek-meyve-hasat-makasi-kisa-bicakli-pm-HB00000R37KN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https://www.hepsiburada.com/guzelogullari-tarim-zeytin-ve-meyve-sebze-kasasi-20-kg-kapasiteli-pm-HBC00007FENGH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https://www.trendyol.com/genel-markalar/300-kg-elektronik-terazi-sarjli-kantar-arka-korumali-tarti-40x50-cm-tabla-fiyat-hesaplamali-p-39625176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https://www.hepsiburada.com/bant-marketim-katlanir-yuk-tasima-arabasi-portatif-tip-pm-HB000003Q0NT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https://www.hepsiburada.com/pratik-toprak-kazma-ekme-capalama-icin-korumali-bahce-bahcivan-eldiveni-pm-HBC00000YY9Q4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https://www.agrodaltarim.com.tr/index.php?route=product/search&amp;search=DOMATES&amp;category_id=5812&amp;sub_category=true&amp;description=true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https://www.agrodaltarim.com.tr/index.php?route=product/search&amp;search=BİBER&amp;category_id=5812&amp;sub_category=true&amp;description=true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https://www.agrodaltarim.com.tr/index.php?route=product/search&amp;search=bamya%20&amp;category_id=5812&amp;sub_category=true&amp;description=true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https://www.agrodaltarim.com.tr/index.php?route=product/search&amp;search=PATLICAN&amp;category_id=5812&amp;sub_category=true&amp;description=true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https://www.agrodaltarim.com.tr/index.php?route=product/search&amp;search=FASULYE&amp;category_id=5812&amp;sub_category=true&amp;description=true </a:t>
            </a:r>
            <a:endParaRPr lang="tr-T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https://www.agrodaltarim.com.tr/index.php?route=product/search&amp;search=kabak%20&amp;category_id=5812&amp;sub_category=true&amp;description=true </a:t>
            </a:r>
            <a:endParaRPr lang="tr-TR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/>
              <a:t>https://www.agrodaltarim.com.tr/index.php?route=product/search&amp;search=salatalık&amp;category_id=5812&amp;sub_category=true&amp;description=true </a:t>
            </a:r>
            <a:endParaRPr lang="tr-TR" sz="1100" dirty="0" smtClean="0"/>
          </a:p>
          <a:p>
            <a:r>
              <a:rPr lang="en-US" sz="1100" dirty="0"/>
              <a:t>https://www.agrodaltarim.com.tr/index.php?route=product/search&amp;search=acur&amp;category_id=5812&amp;sub_category=true&amp;description=true </a:t>
            </a:r>
            <a:endParaRPr lang="tr-TR" sz="1100" dirty="0" smtClean="0"/>
          </a:p>
        </p:txBody>
      </p:sp>
      <p:sp>
        <p:nvSpPr>
          <p:cNvPr id="7" name="Dikdörtgen 6"/>
          <p:cNvSpPr/>
          <p:nvPr/>
        </p:nvSpPr>
        <p:spPr>
          <a:xfrm>
            <a:off x="0" y="260648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err="1" smtClean="0"/>
              <a:t>References</a:t>
            </a:r>
            <a:r>
              <a:rPr lang="tr-TR" sz="2600" b="1" dirty="0" smtClean="0"/>
              <a:t> (Cont’d)</a:t>
            </a:r>
          </a:p>
        </p:txBody>
      </p:sp>
    </p:spTree>
    <p:extLst>
      <p:ext uri="{BB962C8B-B14F-4D97-AF65-F5344CB8AC3E}">
        <p14:creationId xmlns:p14="http://schemas.microsoft.com/office/powerpoint/2010/main" val="225819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518160"/>
            <a:ext cx="7772400" cy="5215096"/>
          </a:xfrm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  <a:latin typeface="Humanist 777" panose="02000503050000020004" pitchFamily="2" charset="-94"/>
              </a:rPr>
              <a:t>THANK YOU !</a:t>
            </a:r>
            <a:r>
              <a:rPr lang="en-US" dirty="0">
                <a:solidFill>
                  <a:schemeClr val="tx1"/>
                </a:solidFill>
                <a:latin typeface="Humanist 777" panose="02000503050000020004" pitchFamily="2" charset="-94"/>
              </a:rPr>
              <a:t> </a:t>
            </a:r>
            <a:r>
              <a:rPr lang="tr-TR" dirty="0">
                <a:solidFill>
                  <a:schemeClr val="tx1"/>
                </a:solidFill>
                <a:latin typeface="Humanist 777" panose="02000503050000020004" pitchFamily="2" charset="-94"/>
              </a:rPr>
              <a:t/>
            </a:r>
            <a:br>
              <a:rPr lang="tr-TR" dirty="0">
                <a:solidFill>
                  <a:schemeClr val="tx1"/>
                </a:solidFill>
                <a:latin typeface="Humanist 777" panose="02000503050000020004" pitchFamily="2" charset="-94"/>
              </a:rPr>
            </a:b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03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rwick_light_background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Breeze">
    <a:dk1>
      <a:sysClr val="windowText" lastClr="000000"/>
    </a:dk1>
    <a:lt1>
      <a:sysClr val="window" lastClr="FFFFFF"/>
    </a:lt1>
    <a:dk2>
      <a:srgbClr val="09213B"/>
    </a:dk2>
    <a:lt2>
      <a:srgbClr val="D5EDF4"/>
    </a:lt2>
    <a:accent1>
      <a:srgbClr val="2C7C9F"/>
    </a:accent1>
    <a:accent2>
      <a:srgbClr val="244A58"/>
    </a:accent2>
    <a:accent3>
      <a:srgbClr val="E2751D"/>
    </a:accent3>
    <a:accent4>
      <a:srgbClr val="FFB400"/>
    </a:accent4>
    <a:accent5>
      <a:srgbClr val="7EB606"/>
    </a:accent5>
    <a:accent6>
      <a:srgbClr val="C00000"/>
    </a:accent6>
    <a:hlink>
      <a:srgbClr val="7030A0"/>
    </a:hlink>
    <a:folHlink>
      <a:srgbClr val="00B0F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18662</TotalTime>
  <Words>413</Words>
  <Application>Microsoft Office PowerPoint</Application>
  <PresentationFormat>Ekran Gösterisi (4:3)</PresentationFormat>
  <Paragraphs>154</Paragraphs>
  <Slides>17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8" baseType="lpstr">
      <vt:lpstr>ＭＳ Ｐゴシック</vt:lpstr>
      <vt:lpstr>Archivo Narrow</vt:lpstr>
      <vt:lpstr>Arial</vt:lpstr>
      <vt:lpstr>Arial Black</vt:lpstr>
      <vt:lpstr>Calibri</vt:lpstr>
      <vt:lpstr>Century Gothic</vt:lpstr>
      <vt:lpstr>Google Sans</vt:lpstr>
      <vt:lpstr>Humanist 777</vt:lpstr>
      <vt:lpstr>Open Sans</vt:lpstr>
      <vt:lpstr>Times New Roman</vt:lpstr>
      <vt:lpstr>Warwick_light_background</vt:lpstr>
      <vt:lpstr>Graduation Design Project (BTP) (2024/2025 Spring)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THANK YOU !  </vt:lpstr>
    </vt:vector>
  </TitlesOfParts>
  <Company>Carnegie Mellon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İşletme Mühendisliği Tanıtımı</dc:title>
  <dc:creator>Deniz Tuncalp</dc:creator>
  <cp:lastModifiedBy>Naci Hakan İlgün</cp:lastModifiedBy>
  <cp:revision>352</cp:revision>
  <cp:lastPrinted>2011-06-20T12:47:19Z</cp:lastPrinted>
  <dcterms:created xsi:type="dcterms:W3CDTF">2011-07-24T17:59:43Z</dcterms:created>
  <dcterms:modified xsi:type="dcterms:W3CDTF">2025-06-19T13:59:55Z</dcterms:modified>
</cp:coreProperties>
</file>
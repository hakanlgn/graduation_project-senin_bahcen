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334" r:id="rId2"/>
    <p:sldId id="478" r:id="rId3"/>
    <p:sldId id="479" r:id="rId4"/>
    <p:sldId id="480" r:id="rId5"/>
    <p:sldId id="481" r:id="rId6"/>
    <p:sldId id="482" r:id="rId7"/>
    <p:sldId id="483" r:id="rId8"/>
    <p:sldId id="447" r:id="rId9"/>
    <p:sldId id="484" r:id="rId10"/>
    <p:sldId id="486" r:id="rId11"/>
    <p:sldId id="487" r:id="rId12"/>
    <p:sldId id="492" r:id="rId13"/>
    <p:sldId id="494" r:id="rId14"/>
    <p:sldId id="495" r:id="rId15"/>
    <p:sldId id="507" r:id="rId16"/>
    <p:sldId id="502" r:id="rId17"/>
    <p:sldId id="463" r:id="rId18"/>
    <p:sldId id="503" r:id="rId19"/>
    <p:sldId id="504" r:id="rId20"/>
    <p:sldId id="496" r:id="rId21"/>
    <p:sldId id="497" r:id="rId22"/>
    <p:sldId id="498" r:id="rId23"/>
    <p:sldId id="499" r:id="rId24"/>
    <p:sldId id="500" r:id="rId25"/>
    <p:sldId id="501" r:id="rId26"/>
    <p:sldId id="508" r:id="rId27"/>
    <p:sldId id="505" r:id="rId28"/>
    <p:sldId id="506" r:id="rId29"/>
    <p:sldId id="374" r:id="rId30"/>
  </p:sldIdLst>
  <p:sldSz cx="9144000" cy="6858000" type="screen4x3"/>
  <p:notesSz cx="6781800" cy="9906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hat Devrim Şen" initials="NDŞ" lastIdx="1" clrIdx="0">
    <p:extLst>
      <p:ext uri="{19B8F6BF-5375-455C-9EA6-DF929625EA0E}">
        <p15:presenceInfo xmlns:p15="http://schemas.microsoft.com/office/powerpoint/2012/main" userId="c5d0495b6c4fd583" providerId="Windows Live"/>
      </p:ext>
    </p:extLst>
  </p:cmAuthor>
  <p:cmAuthor id="2" name="Naci Hakan İlgün" initials="NHİ" lastIdx="8" clrIdx="1">
    <p:extLst>
      <p:ext uri="{19B8F6BF-5375-455C-9EA6-DF929625EA0E}">
        <p15:presenceInfo xmlns:p15="http://schemas.microsoft.com/office/powerpoint/2012/main" userId="S-1-5-21-2209913847-3806593556-389515419-10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5B83"/>
    <a:srgbClr val="140E14"/>
    <a:srgbClr val="AF1414"/>
    <a:srgbClr val="990A0A"/>
    <a:srgbClr val="41A94C"/>
    <a:srgbClr val="0C9C1D"/>
    <a:srgbClr val="DAE2E7"/>
    <a:srgbClr val="FF6666"/>
    <a:srgbClr val="FF8000"/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597" autoAdjust="0"/>
  </p:normalViewPr>
  <p:slideViewPr>
    <p:cSldViewPr showGuides="1">
      <p:cViewPr varScale="1">
        <p:scale>
          <a:sx n="89" d="100"/>
          <a:sy n="89" d="100"/>
        </p:scale>
        <p:origin x="131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8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dirty="0"/>
          </a:p>
        </p:txBody>
      </p:sp>
      <p:sp>
        <p:nvSpPr>
          <p:cNvPr id="4710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3338" y="0"/>
            <a:ext cx="293846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 dirty="0"/>
          </a:p>
        </p:txBody>
      </p:sp>
      <p:sp>
        <p:nvSpPr>
          <p:cNvPr id="4710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070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dirty="0"/>
          </a:p>
        </p:txBody>
      </p:sp>
      <p:sp>
        <p:nvSpPr>
          <p:cNvPr id="4710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3338" y="9410700"/>
            <a:ext cx="293846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ACD595C-995D-1241-BF22-0BE151F57D94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4702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050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dirty="0"/>
          </a:p>
        </p:txBody>
      </p:sp>
      <p:sp>
        <p:nvSpPr>
          <p:cNvPr id="16387" name="Rectangle 2051"/>
          <p:cNvSpPr>
            <a:spLocks noGrp="1" noChangeArrowheads="1"/>
          </p:cNvSpPr>
          <p:nvPr>
            <p:ph type="dt" idx="1"/>
          </p:nvPr>
        </p:nvSpPr>
        <p:spPr bwMode="auto">
          <a:xfrm>
            <a:off x="3843338" y="0"/>
            <a:ext cx="293846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 dirty="0"/>
          </a:p>
        </p:txBody>
      </p:sp>
      <p:sp>
        <p:nvSpPr>
          <p:cNvPr id="16388" name="Rectangle 205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4400" y="742950"/>
            <a:ext cx="4953000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6389" name="Rectangle 205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875" y="4705350"/>
            <a:ext cx="497205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390" name="Rectangle 205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10700"/>
            <a:ext cx="293846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GB" dirty="0"/>
          </a:p>
        </p:txBody>
      </p:sp>
      <p:sp>
        <p:nvSpPr>
          <p:cNvPr id="16391" name="Rectangle 205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3338" y="9410700"/>
            <a:ext cx="293846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F00202-AF3F-BC49-A0CF-F9821543CD3A}" type="slidenum">
              <a:rPr lang="en-GB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009232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05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917156-F7E2-034C-AA81-FEDD8C1E2F0B}" type="slidenum">
              <a:rPr lang="en-GB"/>
              <a:pPr/>
              <a:t>1</a:t>
            </a:fld>
            <a:endParaRPr lang="en-GB" dirty="0"/>
          </a:p>
        </p:txBody>
      </p:sp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36286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1500" y="1650015"/>
            <a:ext cx="8115300" cy="4394200"/>
          </a:xfrm>
          <a:prstGeom prst="rect">
            <a:avLst/>
          </a:prstGeom>
        </p:spPr>
      </p:pic>
      <p:sp>
        <p:nvSpPr>
          <p:cNvPr id="4915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1828800"/>
            <a:ext cx="7620000" cy="1143000"/>
          </a:xfrm>
        </p:spPr>
        <p:txBody>
          <a:bodyPr/>
          <a:lstStyle>
            <a:lvl1pPr algn="ctr">
              <a:defRPr sz="3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GB" dirty="0"/>
              <a:t>Master title style</a:t>
            </a:r>
          </a:p>
        </p:txBody>
      </p:sp>
      <p:sp>
        <p:nvSpPr>
          <p:cNvPr id="4915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rgbClr val="F2F2F2"/>
                </a:solidFill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757946" y="2969017"/>
            <a:ext cx="7702366" cy="158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555" y="270471"/>
            <a:ext cx="3346704" cy="11880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FEA1B069-6728-784A-A301-AEFC60147E94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29125"/>
            <a:ext cx="7772400" cy="1362075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dirty="0"/>
              <a:t>Click to edit Master title style</a:t>
            </a:r>
            <a:endParaRPr lang="tr-T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3ABC9281-B939-B741-8411-82569C62A614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1148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r-T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1148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fld id="{150DBF1A-C6AA-AB4F-97CD-1F79A461A91A}" type="slidenum">
              <a:rPr lang="en-GB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tr-T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6_Title 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title"/>
          </p:nvPr>
        </p:nvSpPr>
        <p:spPr>
          <a:xfrm>
            <a:off x="594362" y="676659"/>
            <a:ext cx="8166671" cy="571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3000" i="0" u="none" strike="noStrike" cap="none">
                <a:solidFill>
                  <a:schemeClr val="dk2"/>
                </a:solidFill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spcBef>
                <a:spcPts val="0"/>
              </a:spcBef>
              <a:spcAft>
                <a:spcPts val="0"/>
              </a:spcAft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spcBef>
                <a:spcPts val="0"/>
              </a:spcBef>
              <a:spcAft>
                <a:spcPts val="0"/>
              </a:spcAft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spcBef>
                <a:spcPts val="0"/>
              </a:spcBef>
              <a:spcAft>
                <a:spcPts val="0"/>
              </a:spcAft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spcBef>
                <a:spcPts val="0"/>
              </a:spcBef>
              <a:spcAft>
                <a:spcPts val="0"/>
              </a:spcAft>
              <a:buNone/>
              <a:defRPr sz="3000" b="0" i="0" u="none" strike="noStrike" cap="none">
                <a:solidFill>
                  <a:srgbClr val="009DD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body" idx="1"/>
          </p:nvPr>
        </p:nvSpPr>
        <p:spPr>
          <a:xfrm>
            <a:off x="594361" y="1280239"/>
            <a:ext cx="8160321" cy="3151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None/>
              <a:defRPr sz="1800" i="0" u="none" strike="noStrike" cap="none">
                <a:solidFill>
                  <a:schemeClr val="dk2"/>
                </a:solidFill>
              </a:defRPr>
            </a:lvl1pPr>
            <a:lvl2pPr marL="457200" marR="0" lvl="1" indent="0" algn="l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None/>
              <a:defRPr sz="2000" b="1" i="0" u="none" strike="noStrike" cap="none">
                <a:solidFill>
                  <a:schemeClr val="dk2"/>
                </a:solidFill>
              </a:defRPr>
            </a:lvl2pPr>
            <a:lvl3pPr marL="914400" marR="0" lvl="2" indent="0" algn="l" rtl="0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None/>
              <a:defRPr sz="1800" b="1" i="0" u="none" strike="noStrike" cap="none">
                <a:solidFill>
                  <a:schemeClr val="dk2"/>
                </a:solidFill>
              </a:defRPr>
            </a:lvl3pPr>
            <a:lvl4pPr marL="1371600" marR="0" lvl="3" indent="0" algn="l" rtl="0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None/>
              <a:defRPr sz="1600" b="1" i="0" u="none" strike="noStrike" cap="none">
                <a:solidFill>
                  <a:schemeClr val="dk2"/>
                </a:solidFill>
              </a:defRPr>
            </a:lvl4pPr>
            <a:lvl5pPr marL="1828800" marR="0" lvl="4" indent="0" algn="l" rtl="0"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None/>
              <a:defRPr sz="1600" b="1" i="0" u="none" strike="noStrike" cap="none">
                <a:solidFill>
                  <a:schemeClr val="dk2"/>
                </a:solidFill>
              </a:defRPr>
            </a:lvl5pPr>
            <a:lvl6pPr marL="2286000" marR="0" lvl="5" indent="0" algn="l" rtl="0">
              <a:spcBef>
                <a:spcPts val="320"/>
              </a:spcBef>
              <a:buClr>
                <a:schemeClr val="dk1"/>
              </a:buClr>
              <a:buNone/>
              <a:defRPr sz="1600" b="1" i="0" u="none" strike="noStrike" cap="none">
                <a:solidFill>
                  <a:schemeClr val="dk1"/>
                </a:solidFill>
              </a:defRPr>
            </a:lvl6pPr>
            <a:lvl7pPr marL="2743200" marR="0" lvl="6" indent="0" algn="l" rtl="0">
              <a:spcBef>
                <a:spcPts val="320"/>
              </a:spcBef>
              <a:buClr>
                <a:schemeClr val="dk1"/>
              </a:buClr>
              <a:buNone/>
              <a:defRPr sz="1600" b="1" i="0" u="none" strike="noStrike" cap="none">
                <a:solidFill>
                  <a:schemeClr val="dk1"/>
                </a:solidFill>
              </a:defRPr>
            </a:lvl7pPr>
            <a:lvl8pPr marL="3200400" marR="0" lvl="7" indent="0" algn="l" rtl="0">
              <a:spcBef>
                <a:spcPts val="320"/>
              </a:spcBef>
              <a:buClr>
                <a:schemeClr val="dk1"/>
              </a:buClr>
              <a:buNone/>
              <a:defRPr sz="1600" b="1" i="0" u="none" strike="noStrike" cap="none">
                <a:solidFill>
                  <a:schemeClr val="dk1"/>
                </a:solidFill>
              </a:defRPr>
            </a:lvl8pPr>
            <a:lvl9pPr marL="3657600" marR="0" lvl="8" indent="0" algn="l" rtl="0">
              <a:spcBef>
                <a:spcPts val="320"/>
              </a:spcBef>
              <a:buClr>
                <a:schemeClr val="dk1"/>
              </a:buClr>
              <a:buNone/>
              <a:defRPr sz="1600" b="1" i="0" u="none" strike="noStrike" cap="none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Shape 54"/>
          <p:cNvSpPr txBox="1">
            <a:spLocks noGrp="1"/>
          </p:cNvSpPr>
          <p:nvPr>
            <p:ph type="ftr" idx="11"/>
          </p:nvPr>
        </p:nvSpPr>
        <p:spPr>
          <a:xfrm>
            <a:off x="609601" y="6096080"/>
            <a:ext cx="8153399" cy="6283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chemeClr val="dk1"/>
              </a:buClr>
              <a:buFont typeface="Open Sans"/>
              <a:buNone/>
              <a:defRPr sz="80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5435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5562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5562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5562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fld id="{DCF60520-9A31-014B-B512-554D0441111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26" name="TextBox 25"/>
          <p:cNvSpPr txBox="1"/>
          <p:nvPr userDrawn="1"/>
        </p:nvSpPr>
        <p:spPr>
          <a:xfrm>
            <a:off x="9213850" y="6320135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8100" y="6096000"/>
            <a:ext cx="9258300" cy="8001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19.sv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45.svg"/><Relationship Id="rId7" Type="http://schemas.openxmlformats.org/officeDocument/2006/relationships/image" Target="../media/image4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0.png"/><Relationship Id="rId5" Type="http://schemas.openxmlformats.org/officeDocument/2006/relationships/image" Target="../media/image47.sv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7" Type="http://schemas.openxmlformats.org/officeDocument/2006/relationships/image" Target="../media/image72.jpg"/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1.jpg"/><Relationship Id="rId5" Type="http://schemas.openxmlformats.org/officeDocument/2006/relationships/image" Target="../media/image70.jpg"/><Relationship Id="rId4" Type="http://schemas.openxmlformats.org/officeDocument/2006/relationships/image" Target="../media/image69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762000" y="3471206"/>
            <a:ext cx="777044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>
              <a:spcBef>
                <a:spcPct val="50000"/>
              </a:spcBef>
            </a:pPr>
            <a:endParaRPr lang="en-GB" dirty="0">
              <a:latin typeface="Arial Black" charset="0"/>
            </a:endParaRPr>
          </a:p>
          <a:p>
            <a:pPr algn="ctr">
              <a:spcBef>
                <a:spcPct val="50000"/>
              </a:spcBef>
            </a:pPr>
            <a:endParaRPr lang="en-GB" sz="2800" dirty="0">
              <a:latin typeface="Arial Black" charset="0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ctrTitle"/>
          </p:nvPr>
        </p:nvSpPr>
        <p:spPr>
          <a:xfrm>
            <a:off x="827584" y="1772816"/>
            <a:ext cx="7620000" cy="1143000"/>
          </a:xfrm>
        </p:spPr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Graduation Design Project (BTP)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(2024/2025 Spring)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Metin kutusu 1"/>
          <p:cNvSpPr txBox="1"/>
          <p:nvPr/>
        </p:nvSpPr>
        <p:spPr>
          <a:xfrm>
            <a:off x="611560" y="5229200"/>
            <a:ext cx="27038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Doç. Dr. Nihan Yıldırım</a:t>
            </a:r>
            <a:endParaRPr lang="tr-T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Doç. Dr. Derya Gültekin</a:t>
            </a:r>
            <a:endParaRPr lang="tr-T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11"/>
          <p:cNvSpPr txBox="1">
            <a:spLocks/>
          </p:cNvSpPr>
          <p:nvPr/>
        </p:nvSpPr>
        <p:spPr bwMode="auto">
          <a:xfrm>
            <a:off x="1446820" y="3137890"/>
            <a:ext cx="6400800" cy="4145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rgbClr val="F2F2F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tr-TR" sz="3200" b="1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Final </a:t>
            </a:r>
            <a:r>
              <a:rPr lang="en-GB" sz="3200" b="1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Presentation</a:t>
            </a:r>
            <a:endParaRPr lang="en-GB" sz="3200" b="1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Subtitle 11"/>
          <p:cNvSpPr txBox="1">
            <a:spLocks/>
          </p:cNvSpPr>
          <p:nvPr/>
        </p:nvSpPr>
        <p:spPr bwMode="auto">
          <a:xfrm>
            <a:off x="1437184" y="3942567"/>
            <a:ext cx="6400800" cy="8965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Tx/>
              <a:buNone/>
              <a:defRPr sz="2400">
                <a:solidFill>
                  <a:srgbClr val="F2F2F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r>
              <a:rPr lang="en-US" dirty="0"/>
              <a:t>A Sustainable and Inclusive </a:t>
            </a:r>
            <a:r>
              <a:rPr lang="tr-TR" dirty="0"/>
              <a:t/>
            </a:r>
            <a:br>
              <a:rPr lang="tr-TR" dirty="0"/>
            </a:br>
            <a:r>
              <a:rPr lang="en-US" dirty="0"/>
              <a:t>Agricultural Business Model Design </a:t>
            </a:r>
            <a:endParaRPr lang="en-GB" b="1" dirty="0">
              <a:latin typeface="Humanist 777" panose="02000503050000020004" pitchFamily="2" charset="-94"/>
            </a:endParaRPr>
          </a:p>
        </p:txBody>
      </p:sp>
      <p:sp>
        <p:nvSpPr>
          <p:cNvPr id="8" name="Metin kutusu 7"/>
          <p:cNvSpPr txBox="1"/>
          <p:nvPr/>
        </p:nvSpPr>
        <p:spPr>
          <a:xfrm>
            <a:off x="5364089" y="5229199"/>
            <a:ext cx="33123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Naci Hakan İlgün 070190213</a:t>
            </a:r>
          </a:p>
          <a:p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Nihat Devrim Şen 070210741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970979" y="2809192"/>
            <a:ext cx="1440160" cy="711422"/>
          </a:xfrm>
        </p:spPr>
        <p:txBody>
          <a:bodyPr/>
          <a:lstStyle/>
          <a:p>
            <a:pPr marL="0" indent="0" algn="ctr">
              <a:buNone/>
            </a:pPr>
            <a:r>
              <a:rPr lang="tr-T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Fair Sharing</a:t>
            </a:r>
          </a:p>
          <a:p>
            <a:pPr marL="0" indent="0" algn="ctr">
              <a:buNone/>
            </a:pPr>
            <a:r>
              <a:rPr lang="tr-T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Income</a:t>
            </a:r>
            <a:endParaRPr lang="tr-T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ikdörtgen 3"/>
          <p:cNvSpPr/>
          <p:nvPr/>
        </p:nvSpPr>
        <p:spPr>
          <a:xfrm>
            <a:off x="636800" y="4350876"/>
            <a:ext cx="799288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“The goal is not just to </a:t>
            </a:r>
            <a:r>
              <a:rPr lang="en-US" b="1" i="1" dirty="0" smtClean="0">
                <a:solidFill>
                  <a:schemeClr val="accent5">
                    <a:lumMod val="50000"/>
                  </a:schemeClr>
                </a:solidFill>
              </a:rPr>
              <a:t>farm,</a:t>
            </a:r>
            <a:endParaRPr lang="tr-TR" b="1" i="1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en-US" b="1" i="1" dirty="0" smtClean="0">
                <a:solidFill>
                  <a:schemeClr val="accent5">
                    <a:lumMod val="50000"/>
                  </a:schemeClr>
                </a:solidFill>
              </a:rPr>
              <a:t>but </a:t>
            </a:r>
            <a:r>
              <a:rPr lang="en-US" b="1" i="1" dirty="0">
                <a:solidFill>
                  <a:schemeClr val="accent5">
                    <a:lumMod val="50000"/>
                  </a:schemeClr>
                </a:solidFill>
              </a:rPr>
              <a:t>to cultivate equity, trust, and sustainability.”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72" y="1560876"/>
            <a:ext cx="1713683" cy="1272819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932" y="1560876"/>
            <a:ext cx="1226368" cy="1271107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80" y="1556792"/>
            <a:ext cx="990769" cy="1270721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173" y="1571297"/>
            <a:ext cx="1157773" cy="1260686"/>
          </a:xfrm>
          <a:prstGeom prst="rect">
            <a:avLst/>
          </a:prstGeom>
        </p:spPr>
      </p:pic>
      <p:sp>
        <p:nvSpPr>
          <p:cNvPr id="9" name="Unvan 1"/>
          <p:cNvSpPr txBox="1">
            <a:spLocks/>
          </p:cNvSpPr>
          <p:nvPr/>
        </p:nvSpPr>
        <p:spPr bwMode="auto">
          <a:xfrm>
            <a:off x="0" y="144140"/>
            <a:ext cx="9144000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/>
            <a:r>
              <a:rPr lang="tr-TR" sz="260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Goal, Scope and Purpose</a:t>
            </a:r>
            <a:endParaRPr lang="en-US" sz="26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Dikdörtgen 10"/>
          <p:cNvSpPr/>
          <p:nvPr/>
        </p:nvSpPr>
        <p:spPr>
          <a:xfrm>
            <a:off x="584111" y="2841738"/>
            <a:ext cx="17172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endParaRPr lang="tr-TR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Organic Food</a:t>
            </a:r>
            <a:endParaRPr lang="tr-T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441800" y="2854070"/>
            <a:ext cx="21914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Prioritizing</a:t>
            </a:r>
            <a:endParaRPr lang="tr-T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Employment</a:t>
            </a:r>
          </a:p>
        </p:txBody>
      </p:sp>
      <p:sp>
        <p:nvSpPr>
          <p:cNvPr id="13" name="Dikdörtgen 12"/>
          <p:cNvSpPr/>
          <p:nvPr/>
        </p:nvSpPr>
        <p:spPr>
          <a:xfrm>
            <a:off x="4753592" y="2843196"/>
            <a:ext cx="20677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</a:t>
            </a:r>
          </a:p>
          <a:p>
            <a:pPr marL="0" indent="0" algn="ctr">
              <a:buNone/>
            </a:pP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Development</a:t>
            </a:r>
          </a:p>
        </p:txBody>
      </p:sp>
    </p:spTree>
    <p:extLst>
      <p:ext uri="{BB962C8B-B14F-4D97-AF65-F5344CB8AC3E}">
        <p14:creationId xmlns:p14="http://schemas.microsoft.com/office/powerpoint/2010/main" val="3033734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0" y="144140"/>
            <a:ext cx="9144000" cy="360040"/>
          </a:xfrm>
        </p:spPr>
        <p:txBody>
          <a:bodyPr/>
          <a:lstStyle/>
          <a:p>
            <a:pPr algn="ctr"/>
            <a:r>
              <a:rPr lang="tr-TR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103252" y="773140"/>
            <a:ext cx="4255690" cy="2282103"/>
          </a:xfrm>
        </p:spPr>
        <p:txBody>
          <a:bodyPr/>
          <a:lstStyle/>
          <a:p>
            <a:pPr marL="0" indent="0" algn="ctr">
              <a:buNone/>
            </a:pPr>
            <a:r>
              <a:rPr lang="tr-T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Accessing Safe Food</a:t>
            </a:r>
            <a:endParaRPr lang="tr-T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tr-T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tr-T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tr-T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tr-T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tr-T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="" xmlns:a16="http://schemas.microsoft.com/office/drawing/2014/main" id="{BCD706A4-CF7A-409D-8039-7C2EFE1A7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277" y="1114592"/>
            <a:ext cx="4310767" cy="2178582"/>
          </a:xfrm>
          <a:prstGeom prst="rect">
            <a:avLst/>
          </a:prstGeom>
        </p:spPr>
      </p:pic>
      <p:pic>
        <p:nvPicPr>
          <p:cNvPr id="7" name="Resi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58" y="1137227"/>
            <a:ext cx="3960441" cy="2058385"/>
          </a:xfrm>
          <a:prstGeom prst="rect">
            <a:avLst/>
          </a:prstGeom>
        </p:spPr>
      </p:pic>
      <p:sp>
        <p:nvSpPr>
          <p:cNvPr id="10" name="Dikdörtgen 9"/>
          <p:cNvSpPr/>
          <p:nvPr/>
        </p:nvSpPr>
        <p:spPr>
          <a:xfrm>
            <a:off x="4663277" y="767895"/>
            <a:ext cx="42796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tr-T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Women Employment Problems</a:t>
            </a:r>
          </a:p>
        </p:txBody>
      </p:sp>
      <p:pic>
        <p:nvPicPr>
          <p:cNvPr id="11" name="Resim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5860" y="4220246"/>
            <a:ext cx="4354833" cy="1563124"/>
          </a:xfrm>
          <a:prstGeom prst="rect">
            <a:avLst/>
          </a:prstGeom>
        </p:spPr>
      </p:pic>
      <p:sp>
        <p:nvSpPr>
          <p:cNvPr id="12" name="Dikdörtgen 11"/>
          <p:cNvSpPr/>
          <p:nvPr/>
        </p:nvSpPr>
        <p:spPr>
          <a:xfrm>
            <a:off x="1731683" y="3802243"/>
            <a:ext cx="56814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tr-T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Weakness of the Cooperative Structure in Agriculture </a:t>
            </a:r>
          </a:p>
        </p:txBody>
      </p:sp>
      <p:cxnSp>
        <p:nvCxnSpPr>
          <p:cNvPr id="13" name="Düz Bağlayıcı 12">
            <a:extLst>
              <a:ext uri="{FF2B5EF4-FFF2-40B4-BE49-F238E27FC236}">
                <a16:creationId xmlns="" xmlns:a16="http://schemas.microsoft.com/office/drawing/2014/main" id="{E0F86D36-F391-4338-8857-470A41E09CA8}"/>
              </a:ext>
            </a:extLst>
          </p:cNvPr>
          <p:cNvCxnSpPr>
            <a:cxnSpLocks/>
          </p:cNvCxnSpPr>
          <p:nvPr/>
        </p:nvCxnSpPr>
        <p:spPr bwMode="auto">
          <a:xfrm flipV="1">
            <a:off x="4507137" y="811792"/>
            <a:ext cx="800" cy="27612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Düz Bağlayıcı 13">
            <a:extLst>
              <a:ext uri="{FF2B5EF4-FFF2-40B4-BE49-F238E27FC236}">
                <a16:creationId xmlns="" xmlns:a16="http://schemas.microsoft.com/office/drawing/2014/main" id="{9EBD9219-0668-43DB-A6C9-ED041348F512}"/>
              </a:ext>
            </a:extLst>
          </p:cNvPr>
          <p:cNvCxnSpPr>
            <a:cxnSpLocks/>
          </p:cNvCxnSpPr>
          <p:nvPr/>
        </p:nvCxnSpPr>
        <p:spPr bwMode="auto">
          <a:xfrm flipV="1">
            <a:off x="201935" y="3587199"/>
            <a:ext cx="8740962" cy="48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732762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548680"/>
            <a:ext cx="8496944" cy="5430950"/>
          </a:xfrm>
          <a:prstGeom prst="rect">
            <a:avLst/>
          </a:prstGeom>
        </p:spPr>
      </p:pic>
      <p:sp>
        <p:nvSpPr>
          <p:cNvPr id="17" name="Unvan 1"/>
          <p:cNvSpPr>
            <a:spLocks noGrp="1"/>
          </p:cNvSpPr>
          <p:nvPr>
            <p:ph type="title"/>
          </p:nvPr>
        </p:nvSpPr>
        <p:spPr>
          <a:xfrm>
            <a:off x="0" y="144140"/>
            <a:ext cx="9144000" cy="360040"/>
          </a:xfrm>
        </p:spPr>
        <p:txBody>
          <a:bodyPr/>
          <a:lstStyle/>
          <a:p>
            <a:pPr algn="ctr"/>
            <a:r>
              <a:rPr lang="tr-TR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074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9636"/>
            <a:ext cx="4782224" cy="3967516"/>
          </a:xfrm>
          <a:prstGeom prst="rect">
            <a:avLst/>
          </a:prstGeom>
        </p:spPr>
      </p:pic>
      <p:pic>
        <p:nvPicPr>
          <p:cNvPr id="7" name="Resim 6"/>
          <p:cNvPicPr/>
          <p:nvPr/>
        </p:nvPicPr>
        <p:blipFill>
          <a:blip r:embed="rId3"/>
          <a:stretch>
            <a:fillRect/>
          </a:stretch>
        </p:blipFill>
        <p:spPr>
          <a:xfrm>
            <a:off x="4713427" y="3510346"/>
            <a:ext cx="4430573" cy="2573612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224" y="3312691"/>
            <a:ext cx="4254272" cy="197655"/>
          </a:xfrm>
          <a:prstGeom prst="rect">
            <a:avLst/>
          </a:prstGeom>
        </p:spPr>
      </p:pic>
      <p:sp>
        <p:nvSpPr>
          <p:cNvPr id="11" name="Unvan 1"/>
          <p:cNvSpPr>
            <a:spLocks noGrp="1"/>
          </p:cNvSpPr>
          <p:nvPr>
            <p:ph type="title"/>
          </p:nvPr>
        </p:nvSpPr>
        <p:spPr>
          <a:xfrm>
            <a:off x="0" y="144140"/>
            <a:ext cx="9144000" cy="360040"/>
          </a:xfrm>
        </p:spPr>
        <p:txBody>
          <a:bodyPr/>
          <a:lstStyle/>
          <a:p>
            <a:pPr algn="ctr"/>
            <a:r>
              <a:rPr lang="tr-TR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Research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33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Resim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74" y="692696"/>
            <a:ext cx="8460252" cy="5289564"/>
          </a:xfrm>
          <a:prstGeom prst="rect">
            <a:avLst/>
          </a:prstGeom>
        </p:spPr>
      </p:pic>
      <p:sp>
        <p:nvSpPr>
          <p:cNvPr id="5" name="Unvan 1"/>
          <p:cNvSpPr>
            <a:spLocks noGrp="1"/>
          </p:cNvSpPr>
          <p:nvPr>
            <p:ph type="title"/>
          </p:nvPr>
        </p:nvSpPr>
        <p:spPr>
          <a:xfrm>
            <a:off x="0" y="144140"/>
            <a:ext cx="9144000" cy="360040"/>
          </a:xfrm>
        </p:spPr>
        <p:txBody>
          <a:bodyPr/>
          <a:lstStyle/>
          <a:p>
            <a:pPr algn="ctr"/>
            <a:r>
              <a:rPr lang="tr-TR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 of the Literature Research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227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832118" y="1971244"/>
            <a:ext cx="2939274" cy="733333"/>
          </a:xfrm>
        </p:spPr>
        <p:txBody>
          <a:bodyPr/>
          <a:lstStyle/>
          <a:p>
            <a:pPr marL="0" indent="0" algn="ctr">
              <a:buNone/>
            </a:pPr>
            <a:r>
              <a:rPr lang="tr-T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Province</a:t>
            </a:r>
            <a:r>
              <a:rPr lang="tr-T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Aydın</a:t>
            </a: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980728"/>
            <a:ext cx="5580598" cy="2219765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381" y="2872805"/>
            <a:ext cx="1150720" cy="327688"/>
          </a:xfrm>
          <a:prstGeom prst="rect">
            <a:avLst/>
          </a:prstGeom>
        </p:spPr>
      </p:pic>
      <p:sp>
        <p:nvSpPr>
          <p:cNvPr id="9" name="Dikdörtgen 8"/>
          <p:cNvSpPr/>
          <p:nvPr/>
        </p:nvSpPr>
        <p:spPr>
          <a:xfrm>
            <a:off x="0" y="3200493"/>
            <a:ext cx="612068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tr-TR" sz="1200" b="1" i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Figure: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Provinces with the highest number of organic farmers (NUTS3) (2022)</a:t>
            </a:r>
            <a:r>
              <a:rPr lang="tr-TR" sz="1200" i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(TurkStat, 2023)</a:t>
            </a:r>
            <a:endParaRPr lang="en-US" sz="900" i="1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2467279" y="5459923"/>
            <a:ext cx="645237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1200" b="1" i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Table:</a:t>
            </a:r>
            <a:r>
              <a:rPr lang="tr-TR" sz="1200" i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200" i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Distribution of organic plant production areas by province in Türkiye (hectares)</a:t>
            </a:r>
            <a:r>
              <a:rPr lang="tr-TR" sz="1200" i="1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(MoAF, 2022)</a:t>
            </a:r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808" y="3992859"/>
            <a:ext cx="5699320" cy="1467064"/>
          </a:xfrm>
          <a:prstGeom prst="rect">
            <a:avLst/>
          </a:prstGeom>
        </p:spPr>
      </p:pic>
      <p:sp>
        <p:nvSpPr>
          <p:cNvPr id="10" name="Unvan 1"/>
          <p:cNvSpPr>
            <a:spLocks noGrp="1"/>
          </p:cNvSpPr>
          <p:nvPr>
            <p:ph type="title"/>
          </p:nvPr>
        </p:nvSpPr>
        <p:spPr>
          <a:xfrm>
            <a:off x="0" y="144140"/>
            <a:ext cx="9144000" cy="360040"/>
          </a:xfrm>
        </p:spPr>
        <p:txBody>
          <a:bodyPr/>
          <a:lstStyle/>
          <a:p>
            <a:pPr algn="ctr"/>
            <a:r>
              <a:rPr lang="tr-TR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 of the Literature Research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75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up 37">
            <a:extLst>
              <a:ext uri="{FF2B5EF4-FFF2-40B4-BE49-F238E27FC236}">
                <a16:creationId xmlns="" xmlns:a16="http://schemas.microsoft.com/office/drawing/2014/main" id="{46C02C04-BAD1-4D6C-BD0E-1AAA6C796AFA}"/>
              </a:ext>
            </a:extLst>
          </p:cNvPr>
          <p:cNvGrpSpPr/>
          <p:nvPr/>
        </p:nvGrpSpPr>
        <p:grpSpPr>
          <a:xfrm>
            <a:off x="107504" y="1628800"/>
            <a:ext cx="8820472" cy="3833032"/>
            <a:chOff x="28636" y="1988840"/>
            <a:chExt cx="8820472" cy="3833032"/>
          </a:xfrm>
        </p:grpSpPr>
        <p:pic>
          <p:nvPicPr>
            <p:cNvPr id="4" name="Resim 3">
              <a:extLst>
                <a:ext uri="{FF2B5EF4-FFF2-40B4-BE49-F238E27FC236}">
                  <a16:creationId xmlns="" xmlns:a16="http://schemas.microsoft.com/office/drawing/2014/main" id="{5E282F9C-7ED2-412A-BC86-24AFBE3481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36" y="1988840"/>
              <a:ext cx="8820472" cy="3833032"/>
            </a:xfrm>
            <a:prstGeom prst="rect">
              <a:avLst/>
            </a:prstGeom>
          </p:spPr>
        </p:pic>
        <p:grpSp>
          <p:nvGrpSpPr>
            <p:cNvPr id="37" name="Grup 36">
              <a:extLst>
                <a:ext uri="{FF2B5EF4-FFF2-40B4-BE49-F238E27FC236}">
                  <a16:creationId xmlns="" xmlns:a16="http://schemas.microsoft.com/office/drawing/2014/main" id="{1E048D9C-AB72-4093-8355-56F96E8AB1CE}"/>
                </a:ext>
              </a:extLst>
            </p:cNvPr>
            <p:cNvGrpSpPr/>
            <p:nvPr/>
          </p:nvGrpSpPr>
          <p:grpSpPr>
            <a:xfrm>
              <a:off x="665192" y="2445711"/>
              <a:ext cx="7813616" cy="3072068"/>
              <a:chOff x="638100" y="2445711"/>
              <a:chExt cx="7813616" cy="3072068"/>
            </a:xfrm>
          </p:grpSpPr>
          <p:pic>
            <p:nvPicPr>
              <p:cNvPr id="6" name="Resim 5">
                <a:extLst>
                  <a:ext uri="{FF2B5EF4-FFF2-40B4-BE49-F238E27FC236}">
                    <a16:creationId xmlns="" xmlns:a16="http://schemas.microsoft.com/office/drawing/2014/main" id="{C9E4930C-3BB3-4F74-9C02-5E05EC86DE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65000"/>
              </a:blip>
              <a:stretch>
                <a:fillRect/>
              </a:stretch>
            </p:blipFill>
            <p:spPr>
              <a:xfrm>
                <a:off x="638100" y="2445711"/>
                <a:ext cx="1438631" cy="1441262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/>
                </a:outerShdw>
                <a:softEdge rad="38100"/>
              </a:effectLst>
            </p:spPr>
          </p:pic>
          <p:pic>
            <p:nvPicPr>
              <p:cNvPr id="9" name="Resim 8">
                <a:extLst>
                  <a:ext uri="{FF2B5EF4-FFF2-40B4-BE49-F238E27FC236}">
                    <a16:creationId xmlns="" xmlns:a16="http://schemas.microsoft.com/office/drawing/2014/main" id="{1B5057C3-9112-4149-934C-91718FCEDA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65000"/>
              </a:blip>
              <a:stretch>
                <a:fillRect/>
              </a:stretch>
            </p:blipFill>
            <p:spPr>
              <a:xfrm>
                <a:off x="2218809" y="2445711"/>
                <a:ext cx="1468253" cy="1441262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/>
                </a:outerShdw>
                <a:softEdge rad="38100"/>
              </a:effectLst>
            </p:spPr>
          </p:pic>
          <p:pic>
            <p:nvPicPr>
              <p:cNvPr id="12" name="Resim 11">
                <a:extLst>
                  <a:ext uri="{FF2B5EF4-FFF2-40B4-BE49-F238E27FC236}">
                    <a16:creationId xmlns="" xmlns:a16="http://schemas.microsoft.com/office/drawing/2014/main" id="{B0800BE3-C783-4C68-AAB6-BF8AC74D2D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alphaModFix amt="65000"/>
              </a:blip>
              <a:stretch>
                <a:fillRect/>
              </a:stretch>
            </p:blipFill>
            <p:spPr>
              <a:xfrm>
                <a:off x="3829140" y="2445711"/>
                <a:ext cx="1470140" cy="1466474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/>
                </a:outerShdw>
                <a:softEdge rad="38100"/>
              </a:effectLst>
            </p:spPr>
          </p:pic>
          <p:pic>
            <p:nvPicPr>
              <p:cNvPr id="19" name="Resim 18">
                <a:extLst>
                  <a:ext uri="{FF2B5EF4-FFF2-40B4-BE49-F238E27FC236}">
                    <a16:creationId xmlns="" xmlns:a16="http://schemas.microsoft.com/office/drawing/2014/main" id="{1727F84E-6819-4461-803D-533FCF0AC1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alphaModFix amt="65000"/>
              </a:blip>
              <a:stretch>
                <a:fillRect/>
              </a:stretch>
            </p:blipFill>
            <p:spPr>
              <a:xfrm>
                <a:off x="5402340" y="2445711"/>
                <a:ext cx="1470140" cy="1466474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/>
                </a:outerShdw>
                <a:softEdge rad="38100"/>
              </a:effectLst>
            </p:spPr>
          </p:pic>
          <p:pic>
            <p:nvPicPr>
              <p:cNvPr id="21" name="Resim 20">
                <a:extLst>
                  <a:ext uri="{FF2B5EF4-FFF2-40B4-BE49-F238E27FC236}">
                    <a16:creationId xmlns="" xmlns:a16="http://schemas.microsoft.com/office/drawing/2014/main" id="{1AAB794D-7F5D-45E8-A47F-0E10F53EDC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alphaModFix amt="65000"/>
              </a:blip>
              <a:stretch>
                <a:fillRect/>
              </a:stretch>
            </p:blipFill>
            <p:spPr>
              <a:xfrm>
                <a:off x="7020180" y="2451296"/>
                <a:ext cx="1413897" cy="1435678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/>
                </a:outerShdw>
                <a:softEdge rad="38100"/>
              </a:effectLst>
            </p:spPr>
          </p:pic>
          <p:pic>
            <p:nvPicPr>
              <p:cNvPr id="23" name="Resim 22">
                <a:extLst>
                  <a:ext uri="{FF2B5EF4-FFF2-40B4-BE49-F238E27FC236}">
                    <a16:creationId xmlns="" xmlns:a16="http://schemas.microsoft.com/office/drawing/2014/main" id="{88269D2F-146F-4C85-9F4C-B75234D533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alphaModFix amt="65000"/>
              </a:blip>
              <a:stretch>
                <a:fillRect/>
              </a:stretch>
            </p:blipFill>
            <p:spPr>
              <a:xfrm>
                <a:off x="638100" y="4005064"/>
                <a:ext cx="1438631" cy="689990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/>
                </a:outerShdw>
                <a:softEdge rad="38100"/>
              </a:effectLst>
            </p:spPr>
          </p:pic>
          <p:pic>
            <p:nvPicPr>
              <p:cNvPr id="25" name="Resim 24">
                <a:extLst>
                  <a:ext uri="{FF2B5EF4-FFF2-40B4-BE49-F238E27FC236}">
                    <a16:creationId xmlns="" xmlns:a16="http://schemas.microsoft.com/office/drawing/2014/main" id="{DCA6DA80-2E69-4A55-82E6-0C790034FF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alphaModFix amt="65000"/>
              </a:blip>
              <a:stretch>
                <a:fillRect/>
              </a:stretch>
            </p:blipFill>
            <p:spPr>
              <a:xfrm>
                <a:off x="2218808" y="4018955"/>
                <a:ext cx="1468253" cy="708277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/>
                </a:outerShdw>
                <a:softEdge rad="38100"/>
              </a:effectLst>
            </p:spPr>
          </p:pic>
          <p:pic>
            <p:nvPicPr>
              <p:cNvPr id="27" name="Resim 26">
                <a:extLst>
                  <a:ext uri="{FF2B5EF4-FFF2-40B4-BE49-F238E27FC236}">
                    <a16:creationId xmlns="" xmlns:a16="http://schemas.microsoft.com/office/drawing/2014/main" id="{83D5F225-90AF-472D-B04A-198AAE3E51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alphaModFix amt="65000"/>
              </a:blip>
              <a:stretch>
                <a:fillRect/>
              </a:stretch>
            </p:blipFill>
            <p:spPr>
              <a:xfrm>
                <a:off x="3829138" y="4012276"/>
                <a:ext cx="1462177" cy="689990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/>
                </a:outerShdw>
                <a:softEdge rad="38100"/>
              </a:effectLst>
            </p:spPr>
          </p:pic>
          <p:pic>
            <p:nvPicPr>
              <p:cNvPr id="29" name="Resim 28">
                <a:extLst>
                  <a:ext uri="{FF2B5EF4-FFF2-40B4-BE49-F238E27FC236}">
                    <a16:creationId xmlns="" xmlns:a16="http://schemas.microsoft.com/office/drawing/2014/main" id="{F66FA845-8739-425C-89A3-C63C654266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alphaModFix amt="65000"/>
              </a:blip>
              <a:stretch>
                <a:fillRect/>
              </a:stretch>
            </p:blipFill>
            <p:spPr>
              <a:xfrm>
                <a:off x="5410303" y="4018954"/>
                <a:ext cx="1462177" cy="702373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/>
                </a:outerShdw>
                <a:softEdge rad="38100"/>
              </a:effectLst>
            </p:spPr>
          </p:pic>
          <p:pic>
            <p:nvPicPr>
              <p:cNvPr id="30" name="Resim 29">
                <a:extLst>
                  <a:ext uri="{FF2B5EF4-FFF2-40B4-BE49-F238E27FC236}">
                    <a16:creationId xmlns="" xmlns:a16="http://schemas.microsoft.com/office/drawing/2014/main" id="{F8ABF804-24D0-4807-8971-E743471ADD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alphaModFix amt="65000"/>
              </a:blip>
              <a:stretch>
                <a:fillRect/>
              </a:stretch>
            </p:blipFill>
            <p:spPr>
              <a:xfrm>
                <a:off x="6973563" y="4019117"/>
                <a:ext cx="1468253" cy="708277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/>
                </a:outerShdw>
                <a:softEdge rad="38100"/>
              </a:effectLst>
            </p:spPr>
          </p:pic>
          <p:pic>
            <p:nvPicPr>
              <p:cNvPr id="31" name="Resim 30">
                <a:extLst>
                  <a:ext uri="{FF2B5EF4-FFF2-40B4-BE49-F238E27FC236}">
                    <a16:creationId xmlns="" xmlns:a16="http://schemas.microsoft.com/office/drawing/2014/main" id="{A54C1AB3-8AA8-467E-AC40-3C82061643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alphaModFix amt="65000"/>
              </a:blip>
              <a:stretch>
                <a:fillRect/>
              </a:stretch>
            </p:blipFill>
            <p:spPr>
              <a:xfrm>
                <a:off x="638100" y="4803763"/>
                <a:ext cx="1462177" cy="702373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/>
                </a:outerShdw>
                <a:softEdge rad="38100"/>
              </a:effectLst>
            </p:spPr>
          </p:pic>
          <p:pic>
            <p:nvPicPr>
              <p:cNvPr id="32" name="Resim 31">
                <a:extLst>
                  <a:ext uri="{FF2B5EF4-FFF2-40B4-BE49-F238E27FC236}">
                    <a16:creationId xmlns="" xmlns:a16="http://schemas.microsoft.com/office/drawing/2014/main" id="{1E6BCAC6-0130-47E8-9014-C0FD4F10E1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alphaModFix amt="65000"/>
              </a:blip>
              <a:stretch>
                <a:fillRect/>
              </a:stretch>
            </p:blipFill>
            <p:spPr>
              <a:xfrm>
                <a:off x="2234429" y="4809954"/>
                <a:ext cx="1462177" cy="689990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/>
                </a:outerShdw>
                <a:softEdge rad="38100"/>
              </a:effectLst>
            </p:spPr>
          </p:pic>
          <p:pic>
            <p:nvPicPr>
              <p:cNvPr id="33" name="Resim 32">
                <a:extLst>
                  <a:ext uri="{FF2B5EF4-FFF2-40B4-BE49-F238E27FC236}">
                    <a16:creationId xmlns="" xmlns:a16="http://schemas.microsoft.com/office/drawing/2014/main" id="{75576D1F-AA1C-47F9-B0D5-B95FD4EC3E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alphaModFix amt="65000"/>
              </a:blip>
              <a:stretch>
                <a:fillRect/>
              </a:stretch>
            </p:blipFill>
            <p:spPr>
              <a:xfrm>
                <a:off x="5417772" y="4803763"/>
                <a:ext cx="1470140" cy="689990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/>
                </a:outerShdw>
                <a:softEdge rad="38100"/>
              </a:effectLst>
            </p:spPr>
          </p:pic>
          <p:pic>
            <p:nvPicPr>
              <p:cNvPr id="34" name="Resim 33">
                <a:extLst>
                  <a:ext uri="{FF2B5EF4-FFF2-40B4-BE49-F238E27FC236}">
                    <a16:creationId xmlns="" xmlns:a16="http://schemas.microsoft.com/office/drawing/2014/main" id="{0C4EB7CA-63D4-4F43-AD60-5215E98AB4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alphaModFix amt="65000"/>
              </a:blip>
              <a:stretch>
                <a:fillRect/>
              </a:stretch>
            </p:blipFill>
            <p:spPr>
              <a:xfrm>
                <a:off x="3823062" y="4809502"/>
                <a:ext cx="1468253" cy="708277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/>
                </a:outerShdw>
                <a:softEdge rad="38100"/>
              </a:effectLst>
            </p:spPr>
          </p:pic>
          <p:pic>
            <p:nvPicPr>
              <p:cNvPr id="35" name="Resim 34">
                <a:extLst>
                  <a:ext uri="{FF2B5EF4-FFF2-40B4-BE49-F238E27FC236}">
                    <a16:creationId xmlns="" xmlns:a16="http://schemas.microsoft.com/office/drawing/2014/main" id="{DD4150B9-FF60-4989-B569-7483E60CA8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alphaModFix amt="65000"/>
              </a:blip>
              <a:stretch>
                <a:fillRect/>
              </a:stretch>
            </p:blipFill>
            <p:spPr>
              <a:xfrm>
                <a:off x="6989539" y="4807054"/>
                <a:ext cx="1462177" cy="689990"/>
              </a:xfrm>
              <a:prstGeom prst="rect">
                <a:avLst/>
              </a:prstGeom>
              <a:effectLst>
                <a:outerShdw blurRad="50800" dist="50800" dir="5400000" algn="ctr" rotWithShape="0">
                  <a:srgbClr val="000000"/>
                </a:outerShdw>
                <a:softEdge rad="38100"/>
              </a:effectLst>
            </p:spPr>
          </p:pic>
        </p:grpSp>
      </p:grpSp>
      <p:sp>
        <p:nvSpPr>
          <p:cNvPr id="45" name="Metin kutusu 44">
            <a:extLst>
              <a:ext uri="{FF2B5EF4-FFF2-40B4-BE49-F238E27FC236}">
                <a16:creationId xmlns="" xmlns:a16="http://schemas.microsoft.com/office/drawing/2014/main" id="{F6A9AC28-E319-4E4E-B3A2-6B7FAE0A2F66}"/>
              </a:ext>
            </a:extLst>
          </p:cNvPr>
          <p:cNvSpPr txBox="1"/>
          <p:nvPr/>
        </p:nvSpPr>
        <p:spPr>
          <a:xfrm>
            <a:off x="1215376" y="5439925"/>
            <a:ext cx="71287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*Visualization of 50 m² and 100 m² rented plots within a 1 decare (1000 m²) agricultural land.</a:t>
            </a:r>
          </a:p>
        </p:txBody>
      </p:sp>
      <p:grpSp>
        <p:nvGrpSpPr>
          <p:cNvPr id="2" name="Grup 1">
            <a:extLst>
              <a:ext uri="{FF2B5EF4-FFF2-40B4-BE49-F238E27FC236}">
                <a16:creationId xmlns="" xmlns:a16="http://schemas.microsoft.com/office/drawing/2014/main" id="{84C675CC-1680-43B8-AED6-34C2FD753131}"/>
              </a:ext>
            </a:extLst>
          </p:cNvPr>
          <p:cNvGrpSpPr/>
          <p:nvPr/>
        </p:nvGrpSpPr>
        <p:grpSpPr>
          <a:xfrm>
            <a:off x="1071360" y="788426"/>
            <a:ext cx="7753376" cy="923330"/>
            <a:chOff x="821946" y="897195"/>
            <a:chExt cx="7753376" cy="923330"/>
          </a:xfrm>
        </p:grpSpPr>
        <p:sp>
          <p:nvSpPr>
            <p:cNvPr id="40" name="Metin kutusu 39">
              <a:extLst>
                <a:ext uri="{FF2B5EF4-FFF2-40B4-BE49-F238E27FC236}">
                  <a16:creationId xmlns="" xmlns:a16="http://schemas.microsoft.com/office/drawing/2014/main" id="{1FB2C409-DE41-47EE-942E-7B9451D8CA95}"/>
                </a:ext>
              </a:extLst>
            </p:cNvPr>
            <p:cNvSpPr txBox="1"/>
            <p:nvPr/>
          </p:nvSpPr>
          <p:spPr>
            <a:xfrm>
              <a:off x="821946" y="897195"/>
              <a:ext cx="1351041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800" dirty="0"/>
                <a:t>Tomato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800" dirty="0"/>
                <a:t>Pepper</a:t>
              </a:r>
            </a:p>
            <a:p>
              <a:endParaRPr lang="en-US" sz="1800" dirty="0"/>
            </a:p>
          </p:txBody>
        </p:sp>
        <p:sp>
          <p:nvSpPr>
            <p:cNvPr id="42" name="Metin kutusu 41">
              <a:extLst>
                <a:ext uri="{FF2B5EF4-FFF2-40B4-BE49-F238E27FC236}">
                  <a16:creationId xmlns="" xmlns:a16="http://schemas.microsoft.com/office/drawing/2014/main" id="{D45D1DB5-77E0-4872-84F2-B2BA760E6875}"/>
                </a:ext>
              </a:extLst>
            </p:cNvPr>
            <p:cNvSpPr txBox="1"/>
            <p:nvPr/>
          </p:nvSpPr>
          <p:spPr>
            <a:xfrm>
              <a:off x="2172987" y="897195"/>
              <a:ext cx="140304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800" dirty="0"/>
                <a:t>Eggplant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800" dirty="0"/>
                <a:t>Beans</a:t>
              </a:r>
            </a:p>
          </p:txBody>
        </p:sp>
        <p:sp>
          <p:nvSpPr>
            <p:cNvPr id="43" name="Metin kutusu 42">
              <a:extLst>
                <a:ext uri="{FF2B5EF4-FFF2-40B4-BE49-F238E27FC236}">
                  <a16:creationId xmlns="" xmlns:a16="http://schemas.microsoft.com/office/drawing/2014/main" id="{AA448945-C5FF-490A-B60C-A62D41FBC2DB}"/>
                </a:ext>
              </a:extLst>
            </p:cNvPr>
            <p:cNvSpPr txBox="1"/>
            <p:nvPr/>
          </p:nvSpPr>
          <p:spPr>
            <a:xfrm>
              <a:off x="3621784" y="898509"/>
              <a:ext cx="147014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800" dirty="0"/>
                <a:t>Cucumber 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800" dirty="0"/>
                <a:t>Zucchini</a:t>
              </a:r>
            </a:p>
          </p:txBody>
        </p:sp>
        <p:sp>
          <p:nvSpPr>
            <p:cNvPr id="44" name="Metin kutusu 43">
              <a:extLst>
                <a:ext uri="{FF2B5EF4-FFF2-40B4-BE49-F238E27FC236}">
                  <a16:creationId xmlns="" xmlns:a16="http://schemas.microsoft.com/office/drawing/2014/main" id="{0B301DF4-426B-4B86-AD1D-3BC6251DF681}"/>
                </a:ext>
              </a:extLst>
            </p:cNvPr>
            <p:cNvSpPr txBox="1"/>
            <p:nvPr/>
          </p:nvSpPr>
          <p:spPr>
            <a:xfrm>
              <a:off x="5196920" y="899273"/>
              <a:ext cx="164859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800" dirty="0"/>
                <a:t>Gherkin 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800" dirty="0"/>
                <a:t>Okra</a:t>
              </a:r>
            </a:p>
          </p:txBody>
        </p:sp>
        <p:sp>
          <p:nvSpPr>
            <p:cNvPr id="39" name="Metin kutusu 38">
              <a:extLst>
                <a:ext uri="{FF2B5EF4-FFF2-40B4-BE49-F238E27FC236}">
                  <a16:creationId xmlns="" xmlns:a16="http://schemas.microsoft.com/office/drawing/2014/main" id="{01CFE47B-22B9-44C8-8EE2-6FF41FC60C75}"/>
                </a:ext>
              </a:extLst>
            </p:cNvPr>
            <p:cNvSpPr txBox="1"/>
            <p:nvPr/>
          </p:nvSpPr>
          <p:spPr>
            <a:xfrm>
              <a:off x="6540721" y="897919"/>
              <a:ext cx="203460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800" dirty="0"/>
                <a:t>Stuffed </a:t>
              </a:r>
              <a:br>
                <a:rPr lang="en-US" sz="1800" dirty="0"/>
              </a:br>
              <a:r>
                <a:rPr lang="en-US" sz="1800" dirty="0"/>
                <a:t>Pepper </a:t>
              </a:r>
            </a:p>
          </p:txBody>
        </p:sp>
      </p:grpSp>
      <p:sp>
        <p:nvSpPr>
          <p:cNvPr id="46" name="Unvan 1"/>
          <p:cNvSpPr>
            <a:spLocks noGrp="1"/>
          </p:cNvSpPr>
          <p:nvPr>
            <p:ph type="title"/>
          </p:nvPr>
        </p:nvSpPr>
        <p:spPr>
          <a:xfrm>
            <a:off x="0" y="144140"/>
            <a:ext cx="9144000" cy="360040"/>
          </a:xfrm>
        </p:spPr>
        <p:txBody>
          <a:bodyPr/>
          <a:lstStyle/>
          <a:p>
            <a:pPr algn="ctr"/>
            <a:r>
              <a:rPr lang="tr-TR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Senin Bahçen Model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91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Resim 12">
            <a:extLst>
              <a:ext uri="{FF2B5EF4-FFF2-40B4-BE49-F238E27FC236}">
                <a16:creationId xmlns="" xmlns:a16="http://schemas.microsoft.com/office/drawing/2014/main" id="{C4CED1B0-B39B-47CF-823B-6C0596050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6296" y="4241650"/>
            <a:ext cx="1452889" cy="1069488"/>
          </a:xfrm>
          <a:prstGeom prst="rect">
            <a:avLst/>
          </a:prstGeom>
        </p:spPr>
      </p:pic>
      <p:pic>
        <p:nvPicPr>
          <p:cNvPr id="15" name="Resim 14">
            <a:extLst>
              <a:ext uri="{FF2B5EF4-FFF2-40B4-BE49-F238E27FC236}">
                <a16:creationId xmlns="" xmlns:a16="http://schemas.microsoft.com/office/drawing/2014/main" id="{60B4762F-305A-405F-A903-31D4EF861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615" y="4037680"/>
            <a:ext cx="2630003" cy="1355912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="" xmlns:a16="http://schemas.microsoft.com/office/drawing/2014/main" id="{79D1356C-74CE-44C9-B7A1-1D7BF673C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44" y="4148438"/>
            <a:ext cx="2298074" cy="1255912"/>
          </a:xfrm>
          <a:prstGeom prst="rect">
            <a:avLst/>
          </a:prstGeom>
        </p:spPr>
      </p:pic>
      <p:pic>
        <p:nvPicPr>
          <p:cNvPr id="21" name="Resim 20">
            <a:extLst>
              <a:ext uri="{FF2B5EF4-FFF2-40B4-BE49-F238E27FC236}">
                <a16:creationId xmlns="" xmlns:a16="http://schemas.microsoft.com/office/drawing/2014/main" id="{D4058BA3-D0D4-43BA-94CD-FC8F7EE3BC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499" y="908720"/>
            <a:ext cx="8665161" cy="2735178"/>
          </a:xfrm>
          <a:prstGeom prst="rect">
            <a:avLst/>
          </a:prstGeom>
        </p:spPr>
      </p:pic>
      <p:sp>
        <p:nvSpPr>
          <p:cNvPr id="10" name="Unvan 1"/>
          <p:cNvSpPr txBox="1">
            <a:spLocks/>
          </p:cNvSpPr>
          <p:nvPr/>
        </p:nvSpPr>
        <p:spPr bwMode="auto">
          <a:xfrm>
            <a:off x="0" y="144140"/>
            <a:ext cx="9144000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/>
            <a:r>
              <a:rPr lang="tr-TR" sz="260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 Analysis</a:t>
            </a:r>
            <a:endParaRPr lang="en-US" sz="26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790" y="3820050"/>
            <a:ext cx="1846268" cy="185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2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="" xmlns:a16="http://schemas.microsoft.com/office/drawing/2014/main" id="{EF665245-8A4C-4B02-BB2B-4A65B9BEC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29" y="620688"/>
            <a:ext cx="8415542" cy="5421215"/>
          </a:xfrm>
          <a:prstGeom prst="rect">
            <a:avLst/>
          </a:prstGeom>
        </p:spPr>
      </p:pic>
      <p:sp>
        <p:nvSpPr>
          <p:cNvPr id="8" name="Unvan 1"/>
          <p:cNvSpPr txBox="1">
            <a:spLocks/>
          </p:cNvSpPr>
          <p:nvPr/>
        </p:nvSpPr>
        <p:spPr bwMode="auto">
          <a:xfrm>
            <a:off x="0" y="144140"/>
            <a:ext cx="9144000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/>
            <a:r>
              <a:rPr lang="tr-TR" sz="260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Flow Design</a:t>
            </a:r>
            <a:endParaRPr lang="en-US" sz="26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360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Metin kutusu 48">
            <a:extLst>
              <a:ext uri="{FF2B5EF4-FFF2-40B4-BE49-F238E27FC236}">
                <a16:creationId xmlns="" xmlns:a16="http://schemas.microsoft.com/office/drawing/2014/main" id="{C63FB8BC-36CC-4CDB-9D00-3C21802A7A13}"/>
              </a:ext>
            </a:extLst>
          </p:cNvPr>
          <p:cNvSpPr txBox="1"/>
          <p:nvPr/>
        </p:nvSpPr>
        <p:spPr>
          <a:xfrm>
            <a:off x="494458" y="2377717"/>
            <a:ext cx="2178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22 Questions in Five Categories</a:t>
            </a:r>
          </a:p>
        </p:txBody>
      </p:sp>
      <p:pic>
        <p:nvPicPr>
          <p:cNvPr id="53" name="Grafik 52" descr="Yardım düz dolguyla">
            <a:extLst>
              <a:ext uri="{FF2B5EF4-FFF2-40B4-BE49-F238E27FC236}">
                <a16:creationId xmlns="" xmlns:a16="http://schemas.microsoft.com/office/drawing/2014/main" id="{69E733BC-CB57-416E-9BAD-BCE7686CC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7076" y="1457619"/>
            <a:ext cx="1044625" cy="1044625"/>
          </a:xfrm>
          <a:prstGeom prst="rect">
            <a:avLst/>
          </a:prstGeom>
        </p:spPr>
      </p:pic>
      <p:grpSp>
        <p:nvGrpSpPr>
          <p:cNvPr id="73" name="Grup 72">
            <a:extLst>
              <a:ext uri="{FF2B5EF4-FFF2-40B4-BE49-F238E27FC236}">
                <a16:creationId xmlns="" xmlns:a16="http://schemas.microsoft.com/office/drawing/2014/main" id="{98292FCF-D773-4819-B449-E44968F509B2}"/>
              </a:ext>
            </a:extLst>
          </p:cNvPr>
          <p:cNvGrpSpPr/>
          <p:nvPr/>
        </p:nvGrpSpPr>
        <p:grpSpPr>
          <a:xfrm>
            <a:off x="45530" y="3231038"/>
            <a:ext cx="3893985" cy="2177993"/>
            <a:chOff x="245967" y="3798120"/>
            <a:chExt cx="3893985" cy="2177993"/>
          </a:xfrm>
        </p:grpSpPr>
        <p:sp>
          <p:nvSpPr>
            <p:cNvPr id="28" name="Metin kutusu 27">
              <a:extLst>
                <a:ext uri="{FF2B5EF4-FFF2-40B4-BE49-F238E27FC236}">
                  <a16:creationId xmlns="" xmlns:a16="http://schemas.microsoft.com/office/drawing/2014/main" id="{012E42A9-E947-47EC-B314-20F9CE6DAB64}"/>
                </a:ext>
              </a:extLst>
            </p:cNvPr>
            <p:cNvSpPr txBox="1"/>
            <p:nvPr/>
          </p:nvSpPr>
          <p:spPr>
            <a:xfrm>
              <a:off x="257581" y="3798120"/>
              <a:ext cx="34724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indent="-28575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kumimoji="0" 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</a:rPr>
                <a:t>Demographic Information</a:t>
              </a:r>
            </a:p>
          </p:txBody>
        </p:sp>
        <p:sp>
          <p:nvSpPr>
            <p:cNvPr id="30" name="Metin kutusu 29">
              <a:extLst>
                <a:ext uri="{FF2B5EF4-FFF2-40B4-BE49-F238E27FC236}">
                  <a16:creationId xmlns="" xmlns:a16="http://schemas.microsoft.com/office/drawing/2014/main" id="{B8B97565-02B7-4857-ADC1-69CD7E8B9ECE}"/>
                </a:ext>
              </a:extLst>
            </p:cNvPr>
            <p:cNvSpPr txBox="1"/>
            <p:nvPr/>
          </p:nvSpPr>
          <p:spPr>
            <a:xfrm>
              <a:off x="245967" y="5234706"/>
              <a:ext cx="35124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lang="en-US" sz="1800" dirty="0"/>
                <a:t>Vegetable C</a:t>
              </a:r>
              <a:r>
                <a:rPr lang="en-US" sz="1800" dirty="0">
                  <a:solidFill>
                    <a:schemeClr val="tx1"/>
                  </a:solidFill>
                  <a:latin typeface="Times New Roman" charset="0"/>
                </a:rPr>
                <a:t>onsumption Habits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endParaRPr>
            </a:p>
          </p:txBody>
        </p:sp>
        <p:sp>
          <p:nvSpPr>
            <p:cNvPr id="32" name="Metin kutusu 31">
              <a:extLst>
                <a:ext uri="{FF2B5EF4-FFF2-40B4-BE49-F238E27FC236}">
                  <a16:creationId xmlns="" xmlns:a16="http://schemas.microsoft.com/office/drawing/2014/main" id="{99564C46-EC2D-4131-BDBB-5A9A20F83007}"/>
                </a:ext>
              </a:extLst>
            </p:cNvPr>
            <p:cNvSpPr txBox="1"/>
            <p:nvPr/>
          </p:nvSpPr>
          <p:spPr>
            <a:xfrm>
              <a:off x="251520" y="4583983"/>
              <a:ext cx="3888432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indent="-2857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ü"/>
                <a:tabLst/>
              </a:pPr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Attitudes Towards Transparency </a:t>
              </a:r>
              <a:b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and Sustainability</a:t>
              </a: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Metin kutusu 54">
              <a:extLst>
                <a:ext uri="{FF2B5EF4-FFF2-40B4-BE49-F238E27FC236}">
                  <a16:creationId xmlns="" xmlns:a16="http://schemas.microsoft.com/office/drawing/2014/main" id="{135A1CFC-5434-4A06-9FF6-7D66D26DADEF}"/>
                </a:ext>
              </a:extLst>
            </p:cNvPr>
            <p:cNvSpPr txBox="1"/>
            <p:nvPr/>
          </p:nvSpPr>
          <p:spPr>
            <a:xfrm>
              <a:off x="257581" y="4193131"/>
              <a:ext cx="316835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800" dirty="0"/>
                <a:t>Healthy Living Orientation </a:t>
              </a:r>
            </a:p>
          </p:txBody>
        </p:sp>
        <p:sp>
          <p:nvSpPr>
            <p:cNvPr id="57" name="Metin kutusu 56">
              <a:extLst>
                <a:ext uri="{FF2B5EF4-FFF2-40B4-BE49-F238E27FC236}">
                  <a16:creationId xmlns="" xmlns:a16="http://schemas.microsoft.com/office/drawing/2014/main" id="{D7A44C2D-817E-4859-8C13-B07B2A1F7D8E}"/>
                </a:ext>
              </a:extLst>
            </p:cNvPr>
            <p:cNvSpPr txBox="1"/>
            <p:nvPr/>
          </p:nvSpPr>
          <p:spPr>
            <a:xfrm>
              <a:off x="291697" y="5606781"/>
              <a:ext cx="33843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1800" dirty="0"/>
                <a:t>Demand for Organic Products</a:t>
              </a:r>
            </a:p>
          </p:txBody>
        </p:sp>
      </p:grpSp>
      <p:sp>
        <p:nvSpPr>
          <p:cNvPr id="60" name="Metin kutusu 59">
            <a:extLst>
              <a:ext uri="{FF2B5EF4-FFF2-40B4-BE49-F238E27FC236}">
                <a16:creationId xmlns="" xmlns:a16="http://schemas.microsoft.com/office/drawing/2014/main" id="{242B806E-3A94-47FF-A580-3F272DF67E2E}"/>
              </a:ext>
            </a:extLst>
          </p:cNvPr>
          <p:cNvSpPr txBox="1"/>
          <p:nvPr/>
        </p:nvSpPr>
        <p:spPr>
          <a:xfrm>
            <a:off x="3727147" y="2492050"/>
            <a:ext cx="2178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59 Respondents</a:t>
            </a:r>
          </a:p>
        </p:txBody>
      </p:sp>
      <p:pic>
        <p:nvPicPr>
          <p:cNvPr id="62" name="Grafik 61" descr="Grup düz dolguyla">
            <a:extLst>
              <a:ext uri="{FF2B5EF4-FFF2-40B4-BE49-F238E27FC236}">
                <a16:creationId xmlns="" xmlns:a16="http://schemas.microsoft.com/office/drawing/2014/main" id="{FE15D583-190B-4237-8834-EB5DD140BF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1960" y="1457618"/>
            <a:ext cx="1044625" cy="1044625"/>
          </a:xfrm>
          <a:prstGeom prst="rect">
            <a:avLst/>
          </a:prstGeom>
        </p:spPr>
      </p:pic>
      <p:sp>
        <p:nvSpPr>
          <p:cNvPr id="67" name="Metin kutusu 66">
            <a:extLst>
              <a:ext uri="{FF2B5EF4-FFF2-40B4-BE49-F238E27FC236}">
                <a16:creationId xmlns="" xmlns:a16="http://schemas.microsoft.com/office/drawing/2014/main" id="{9C068100-48FE-496D-A675-856FB819F53C}"/>
              </a:ext>
            </a:extLst>
          </p:cNvPr>
          <p:cNvSpPr txBox="1"/>
          <p:nvPr/>
        </p:nvSpPr>
        <p:spPr>
          <a:xfrm>
            <a:off x="2679421" y="615212"/>
            <a:ext cx="63367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Assessing the compatibility of our business model with the expectations, values ​​and behaviors of our potential customers.</a:t>
            </a:r>
          </a:p>
        </p:txBody>
      </p:sp>
      <p:sp>
        <p:nvSpPr>
          <p:cNvPr id="69" name="Metin kutusu 68">
            <a:extLst>
              <a:ext uri="{FF2B5EF4-FFF2-40B4-BE49-F238E27FC236}">
                <a16:creationId xmlns="" xmlns:a16="http://schemas.microsoft.com/office/drawing/2014/main" id="{6030AB40-6593-42BB-BAFF-F98FD935E412}"/>
              </a:ext>
            </a:extLst>
          </p:cNvPr>
          <p:cNvSpPr txBox="1"/>
          <p:nvPr/>
        </p:nvSpPr>
        <p:spPr>
          <a:xfrm>
            <a:off x="6210492" y="2540746"/>
            <a:ext cx="27401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Question Design Approach</a:t>
            </a:r>
          </a:p>
        </p:txBody>
      </p:sp>
      <p:pic>
        <p:nvPicPr>
          <p:cNvPr id="71" name="Grafik 70" descr="Dişlileri olan kafa düz dolguyla">
            <a:extLst>
              <a:ext uri="{FF2B5EF4-FFF2-40B4-BE49-F238E27FC236}">
                <a16:creationId xmlns="" xmlns:a16="http://schemas.microsoft.com/office/drawing/2014/main" id="{F82F78A2-CA55-4FAA-906D-8D39E32359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58239" y="1559884"/>
            <a:ext cx="1044624" cy="1044624"/>
          </a:xfrm>
          <a:prstGeom prst="rect">
            <a:avLst/>
          </a:prstGeom>
        </p:spPr>
      </p:pic>
      <p:sp>
        <p:nvSpPr>
          <p:cNvPr id="72" name="Metin kutusu 71">
            <a:extLst>
              <a:ext uri="{FF2B5EF4-FFF2-40B4-BE49-F238E27FC236}">
                <a16:creationId xmlns="" xmlns:a16="http://schemas.microsoft.com/office/drawing/2014/main" id="{65DFDFA0-DDB2-4C94-8A47-53CAC065060F}"/>
              </a:ext>
            </a:extLst>
          </p:cNvPr>
          <p:cNvSpPr txBox="1"/>
          <p:nvPr/>
        </p:nvSpPr>
        <p:spPr>
          <a:xfrm>
            <a:off x="687555" y="700286"/>
            <a:ext cx="1954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Survey Goal: </a:t>
            </a:r>
          </a:p>
        </p:txBody>
      </p:sp>
      <p:sp>
        <p:nvSpPr>
          <p:cNvPr id="77" name="Metin kutusu 76">
            <a:extLst>
              <a:ext uri="{FF2B5EF4-FFF2-40B4-BE49-F238E27FC236}">
                <a16:creationId xmlns="" xmlns:a16="http://schemas.microsoft.com/office/drawing/2014/main" id="{0EE5BBA1-62EA-468B-A036-BE842C9640CD}"/>
              </a:ext>
            </a:extLst>
          </p:cNvPr>
          <p:cNvSpPr txBox="1"/>
          <p:nvPr/>
        </p:nvSpPr>
        <p:spPr>
          <a:xfrm>
            <a:off x="6315269" y="4234662"/>
            <a:ext cx="274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sz="1800" dirty="0"/>
              <a:t>Benchmark-based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79" name="Metin kutusu 78">
            <a:extLst>
              <a:ext uri="{FF2B5EF4-FFF2-40B4-BE49-F238E27FC236}">
                <a16:creationId xmlns="" xmlns:a16="http://schemas.microsoft.com/office/drawing/2014/main" id="{FE4395F3-23E7-4E88-BFF2-B294B3CB1D03}"/>
              </a:ext>
            </a:extLst>
          </p:cNvPr>
          <p:cNvSpPr txBox="1"/>
          <p:nvPr/>
        </p:nvSpPr>
        <p:spPr>
          <a:xfrm>
            <a:off x="3495157" y="3626049"/>
            <a:ext cx="2747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Target-aligned Sample</a:t>
            </a:r>
          </a:p>
        </p:txBody>
      </p:sp>
      <p:sp>
        <p:nvSpPr>
          <p:cNvPr id="80" name="Metin kutusu 79">
            <a:extLst>
              <a:ext uri="{FF2B5EF4-FFF2-40B4-BE49-F238E27FC236}">
                <a16:creationId xmlns="" xmlns:a16="http://schemas.microsoft.com/office/drawing/2014/main" id="{35BAFE53-FD34-4F00-8162-63D02AA4B2B9}"/>
              </a:ext>
            </a:extLst>
          </p:cNvPr>
          <p:cNvSpPr txBox="1"/>
          <p:nvPr/>
        </p:nvSpPr>
        <p:spPr>
          <a:xfrm>
            <a:off x="3532514" y="4046159"/>
            <a:ext cx="27920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Online Reach</a:t>
            </a:r>
          </a:p>
        </p:txBody>
      </p:sp>
      <p:sp>
        <p:nvSpPr>
          <p:cNvPr id="83" name="Metin kutusu 82">
            <a:extLst>
              <a:ext uri="{FF2B5EF4-FFF2-40B4-BE49-F238E27FC236}">
                <a16:creationId xmlns="" xmlns:a16="http://schemas.microsoft.com/office/drawing/2014/main" id="{FB1FB6EF-A031-4B92-9C81-370F174CFA07}"/>
              </a:ext>
            </a:extLst>
          </p:cNvPr>
          <p:cNvSpPr txBox="1"/>
          <p:nvPr/>
        </p:nvSpPr>
        <p:spPr>
          <a:xfrm>
            <a:off x="3543232" y="4454572"/>
            <a:ext cx="26648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sz="1800" dirty="0"/>
              <a:t>Majority 18-44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cxnSp>
        <p:nvCxnSpPr>
          <p:cNvPr id="84" name="Düz Bağlayıcı 83">
            <a:extLst>
              <a:ext uri="{FF2B5EF4-FFF2-40B4-BE49-F238E27FC236}">
                <a16:creationId xmlns="" xmlns:a16="http://schemas.microsoft.com/office/drawing/2014/main" id="{7D1D3DB8-22E6-44DE-9429-B7915F78CC09}"/>
              </a:ext>
            </a:extLst>
          </p:cNvPr>
          <p:cNvCxnSpPr>
            <a:cxnSpLocks/>
          </p:cNvCxnSpPr>
          <p:nvPr/>
        </p:nvCxnSpPr>
        <p:spPr bwMode="auto">
          <a:xfrm flipV="1">
            <a:off x="3456136" y="1951771"/>
            <a:ext cx="16124" cy="370947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8" name="Düz Bağlayıcı 87">
            <a:extLst>
              <a:ext uri="{FF2B5EF4-FFF2-40B4-BE49-F238E27FC236}">
                <a16:creationId xmlns="" xmlns:a16="http://schemas.microsoft.com/office/drawing/2014/main" id="{E41B7962-2D22-431D-B748-F8826E6D0AA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232968" y="1957224"/>
            <a:ext cx="41450" cy="37040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4" name="Metin kutusu 93">
            <a:extLst>
              <a:ext uri="{FF2B5EF4-FFF2-40B4-BE49-F238E27FC236}">
                <a16:creationId xmlns="" xmlns:a16="http://schemas.microsoft.com/office/drawing/2014/main" id="{E16D3A31-2CB7-474E-9AE4-90CCFAA8665C}"/>
              </a:ext>
            </a:extLst>
          </p:cNvPr>
          <p:cNvSpPr txBox="1"/>
          <p:nvPr/>
        </p:nvSpPr>
        <p:spPr>
          <a:xfrm>
            <a:off x="6308647" y="3386212"/>
            <a:ext cx="274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sz="1800" dirty="0"/>
              <a:t>Model-driven Questions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95" name="Metin kutusu 94">
            <a:extLst>
              <a:ext uri="{FF2B5EF4-FFF2-40B4-BE49-F238E27FC236}">
                <a16:creationId xmlns="" xmlns:a16="http://schemas.microsoft.com/office/drawing/2014/main" id="{98FAA98F-7069-4D88-BEA9-6CDA698CDDDC}"/>
              </a:ext>
            </a:extLst>
          </p:cNvPr>
          <p:cNvSpPr txBox="1"/>
          <p:nvPr/>
        </p:nvSpPr>
        <p:spPr>
          <a:xfrm>
            <a:off x="6308646" y="3797863"/>
            <a:ext cx="274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sz="1800" dirty="0"/>
              <a:t>Value-fit Focused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96" name="Metin kutusu 95">
            <a:extLst>
              <a:ext uri="{FF2B5EF4-FFF2-40B4-BE49-F238E27FC236}">
                <a16:creationId xmlns="" xmlns:a16="http://schemas.microsoft.com/office/drawing/2014/main" id="{4251AF6F-479C-4857-9A9C-0415E5827D33}"/>
              </a:ext>
            </a:extLst>
          </p:cNvPr>
          <p:cNvSpPr txBox="1"/>
          <p:nvPr/>
        </p:nvSpPr>
        <p:spPr>
          <a:xfrm>
            <a:off x="3557938" y="3232299"/>
            <a:ext cx="274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sz="1800" dirty="0"/>
              <a:t>Urban &amp; Educated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97" name="Metin kutusu 96">
            <a:extLst>
              <a:ext uri="{FF2B5EF4-FFF2-40B4-BE49-F238E27FC236}">
                <a16:creationId xmlns="" xmlns:a16="http://schemas.microsoft.com/office/drawing/2014/main" id="{D2C97782-93B1-4420-BF99-568F6D61CA68}"/>
              </a:ext>
            </a:extLst>
          </p:cNvPr>
          <p:cNvSpPr txBox="1"/>
          <p:nvPr/>
        </p:nvSpPr>
        <p:spPr>
          <a:xfrm>
            <a:off x="6326426" y="4629624"/>
            <a:ext cx="27412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</a:rPr>
              <a:t>Assumption Testing</a:t>
            </a:r>
          </a:p>
        </p:txBody>
      </p:sp>
      <p:sp>
        <p:nvSpPr>
          <p:cNvPr id="99" name="Metin kutusu 98">
            <a:extLst>
              <a:ext uri="{FF2B5EF4-FFF2-40B4-BE49-F238E27FC236}">
                <a16:creationId xmlns="" xmlns:a16="http://schemas.microsoft.com/office/drawing/2014/main" id="{64554311-86F7-4C7C-B608-7ED5EEF571AE}"/>
              </a:ext>
            </a:extLst>
          </p:cNvPr>
          <p:cNvSpPr txBox="1"/>
          <p:nvPr/>
        </p:nvSpPr>
        <p:spPr>
          <a:xfrm>
            <a:off x="157078" y="722853"/>
            <a:ext cx="7319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🎯</a:t>
            </a:r>
          </a:p>
        </p:txBody>
      </p:sp>
      <p:sp>
        <p:nvSpPr>
          <p:cNvPr id="29" name="Unvan 1"/>
          <p:cNvSpPr>
            <a:spLocks noGrp="1"/>
          </p:cNvSpPr>
          <p:nvPr>
            <p:ph type="title"/>
          </p:nvPr>
        </p:nvSpPr>
        <p:spPr>
          <a:xfrm>
            <a:off x="0" y="144140"/>
            <a:ext cx="9144000" cy="360040"/>
          </a:xfrm>
        </p:spPr>
        <p:txBody>
          <a:bodyPr/>
          <a:lstStyle/>
          <a:p>
            <a:pPr algn="ctr"/>
            <a:r>
              <a:rPr lang="tr-TR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 Background</a:t>
            </a:r>
            <a:endParaRPr lang="en-US" sz="2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75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etin kutusu 17">
            <a:extLst>
              <a:ext uri="{FF2B5EF4-FFF2-40B4-BE49-F238E27FC236}">
                <a16:creationId xmlns="" xmlns:a16="http://schemas.microsoft.com/office/drawing/2014/main" id="{14ACE8DE-97D3-44CD-8EF7-47FBC0952CBB}"/>
              </a:ext>
            </a:extLst>
          </p:cNvPr>
          <p:cNvSpPr txBox="1"/>
          <p:nvPr/>
        </p:nvSpPr>
        <p:spPr>
          <a:xfrm>
            <a:off x="1047628" y="486459"/>
            <a:ext cx="20246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Histograms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Metin kutusu 19">
            <a:extLst>
              <a:ext uri="{FF2B5EF4-FFF2-40B4-BE49-F238E27FC236}">
                <a16:creationId xmlns="" xmlns:a16="http://schemas.microsoft.com/office/drawing/2014/main" id="{347D1D94-075C-48C1-8C76-40647E8E4890}"/>
              </a:ext>
            </a:extLst>
          </p:cNvPr>
          <p:cNvSpPr txBox="1"/>
          <p:nvPr/>
        </p:nvSpPr>
        <p:spPr>
          <a:xfrm>
            <a:off x="1220453" y="4998257"/>
            <a:ext cx="67730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is </a:t>
            </a:r>
            <a:r>
              <a:rPr lang="en-US" sz="1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normally distributed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(Shapiro-Wilk p &lt; 0.05)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Therefore, </a:t>
            </a:r>
            <a:r>
              <a:rPr lang="en-US" sz="1600" b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non-parametric methods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were applied.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="" xmlns:a16="http://schemas.microsoft.com/office/drawing/2014/main" id="{643AEB99-ADFD-4A40-9A78-D52285F355AF}"/>
              </a:ext>
            </a:extLst>
          </p:cNvPr>
          <p:cNvSpPr txBox="1"/>
          <p:nvPr/>
        </p:nvSpPr>
        <p:spPr>
          <a:xfrm>
            <a:off x="3219839" y="862738"/>
            <a:ext cx="18751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QQ-plots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Metin kutusu 26">
            <a:extLst>
              <a:ext uri="{FF2B5EF4-FFF2-40B4-BE49-F238E27FC236}">
                <a16:creationId xmlns="" xmlns:a16="http://schemas.microsoft.com/office/drawing/2014/main" id="{29C419F1-9E9B-49DE-AB36-1B6370EF778A}"/>
              </a:ext>
            </a:extLst>
          </p:cNvPr>
          <p:cNvSpPr txBox="1"/>
          <p:nvPr/>
        </p:nvSpPr>
        <p:spPr>
          <a:xfrm>
            <a:off x="5004048" y="820228"/>
            <a:ext cx="27612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Shapiro-Wilk Test</a:t>
            </a:r>
          </a:p>
        </p:txBody>
      </p:sp>
      <p:pic>
        <p:nvPicPr>
          <p:cNvPr id="3" name="Grafik 2" descr="Çubuk grafik düz dolguyla">
            <a:extLst>
              <a:ext uri="{FF2B5EF4-FFF2-40B4-BE49-F238E27FC236}">
                <a16:creationId xmlns="" xmlns:a16="http://schemas.microsoft.com/office/drawing/2014/main" id="{EDA19364-7D16-4F0F-9DFD-F27A6754D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3832" y="1285531"/>
            <a:ext cx="782983" cy="782983"/>
          </a:xfrm>
          <a:prstGeom prst="rect">
            <a:avLst/>
          </a:prstGeom>
        </p:spPr>
      </p:pic>
      <p:pic>
        <p:nvPicPr>
          <p:cNvPr id="6" name="Grafik 5" descr="İstatistikler düz dolguyla">
            <a:extLst>
              <a:ext uri="{FF2B5EF4-FFF2-40B4-BE49-F238E27FC236}">
                <a16:creationId xmlns="" xmlns:a16="http://schemas.microsoft.com/office/drawing/2014/main" id="{9E0E79E8-4D65-4B14-B467-413D49F163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01416" y="1324068"/>
            <a:ext cx="744446" cy="744446"/>
          </a:xfrm>
          <a:prstGeom prst="rect">
            <a:avLst/>
          </a:prstGeom>
        </p:spPr>
      </p:pic>
      <p:pic>
        <p:nvPicPr>
          <p:cNvPr id="9" name="Grafik 8" descr="Sunu çubuk grafiği  düz dolguyla">
            <a:extLst>
              <a:ext uri="{FF2B5EF4-FFF2-40B4-BE49-F238E27FC236}">
                <a16:creationId xmlns="" xmlns:a16="http://schemas.microsoft.com/office/drawing/2014/main" id="{EF9DB148-93FA-4E58-A159-755FDD30A9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7971" y="1304799"/>
            <a:ext cx="744446" cy="744446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="" xmlns:a16="http://schemas.microsoft.com/office/drawing/2014/main" id="{FCF5F374-0181-4B8A-9D6B-534D072971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340" y="2215982"/>
            <a:ext cx="6820852" cy="2686425"/>
          </a:xfrm>
          <a:prstGeom prst="rect">
            <a:avLst/>
          </a:prstGeom>
        </p:spPr>
      </p:pic>
      <p:sp>
        <p:nvSpPr>
          <p:cNvPr id="12" name="Unvan 1"/>
          <p:cNvSpPr>
            <a:spLocks noGrp="1"/>
          </p:cNvSpPr>
          <p:nvPr>
            <p:ph type="title"/>
          </p:nvPr>
        </p:nvSpPr>
        <p:spPr>
          <a:xfrm>
            <a:off x="0" y="-459432"/>
            <a:ext cx="9144000" cy="963612"/>
          </a:xfrm>
        </p:spPr>
        <p:txBody>
          <a:bodyPr/>
          <a:lstStyle/>
          <a:p>
            <a:pPr algn="ctr"/>
            <a:r>
              <a:rPr lang="en-US" sz="2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Checks &amp; General Trends </a:t>
            </a:r>
          </a:p>
        </p:txBody>
      </p:sp>
    </p:spTree>
    <p:extLst>
      <p:ext uri="{BB962C8B-B14F-4D97-AF65-F5344CB8AC3E}">
        <p14:creationId xmlns:p14="http://schemas.microsoft.com/office/powerpoint/2010/main" val="2578056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van 1">
            <a:extLst>
              <a:ext uri="{FF2B5EF4-FFF2-40B4-BE49-F238E27FC236}">
                <a16:creationId xmlns="" xmlns:a16="http://schemas.microsoft.com/office/drawing/2014/main" id="{F702D461-10C9-4CD9-862C-BA6CC2688B51}"/>
              </a:ext>
            </a:extLst>
          </p:cNvPr>
          <p:cNvSpPr txBox="1">
            <a:spLocks/>
          </p:cNvSpPr>
          <p:nvPr/>
        </p:nvSpPr>
        <p:spPr bwMode="auto">
          <a:xfrm>
            <a:off x="1477434" y="261242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/>
            <a:r>
              <a:rPr lang="en-US" sz="2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="" xmlns:a16="http://schemas.microsoft.com/office/drawing/2014/main" id="{CEBDD193-9805-4E5F-9B51-4E905C21F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270" y="621282"/>
            <a:ext cx="4977730" cy="4101369"/>
          </a:xfrm>
          <a:prstGeom prst="rect">
            <a:avLst/>
          </a:prstGeom>
        </p:spPr>
      </p:pic>
      <p:graphicFrame>
        <p:nvGraphicFramePr>
          <p:cNvPr id="8" name="Tablo 7">
            <a:extLst>
              <a:ext uri="{FF2B5EF4-FFF2-40B4-BE49-F238E27FC236}">
                <a16:creationId xmlns="" xmlns:a16="http://schemas.microsoft.com/office/drawing/2014/main" id="{CDFBD8E9-5BA6-44C6-9B23-AF53FECCF4D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7505" y="3212976"/>
          <a:ext cx="5400600" cy="2895600"/>
        </p:xfrm>
        <a:graphic>
          <a:graphicData uri="http://schemas.openxmlformats.org/drawingml/2006/table">
            <a:tbl>
              <a:tblPr/>
              <a:tblGrid>
                <a:gridCol w="2448271">
                  <a:extLst>
                    <a:ext uri="{9D8B030D-6E8A-4147-A177-3AD203B41FA5}">
                      <a16:colId xmlns="" xmlns:a16="http://schemas.microsoft.com/office/drawing/2014/main" val="1085255525"/>
                    </a:ext>
                  </a:extLst>
                </a:gridCol>
                <a:gridCol w="1152129">
                  <a:extLst>
                    <a:ext uri="{9D8B030D-6E8A-4147-A177-3AD203B41FA5}">
                      <a16:colId xmlns="" xmlns:a16="http://schemas.microsoft.com/office/drawing/2014/main" val="107193398"/>
                    </a:ext>
                  </a:extLst>
                </a:gridCol>
                <a:gridCol w="1800200">
                  <a:extLst>
                    <a:ext uri="{9D8B030D-6E8A-4147-A177-3AD203B41FA5}">
                      <a16:colId xmlns="" xmlns:a16="http://schemas.microsoft.com/office/drawing/2014/main" val="1997772582"/>
                    </a:ext>
                  </a:extLst>
                </a:gridCol>
              </a:tblGrid>
              <a:tr h="29520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Variables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1600" dirty="0">
                          <a:solidFill>
                            <a:schemeClr val="bg1"/>
                          </a:solidFill>
                        </a:rPr>
                        <a:t>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Strength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33299869"/>
                  </a:ext>
                </a:extLst>
              </a:tr>
              <a:tr h="50989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Transparent sourcing ↔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Social responsibility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Strong 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91259598"/>
                  </a:ext>
                </a:extLst>
              </a:tr>
              <a:tr h="50989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Organic preference ↔ Transparent sourcing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738418006"/>
                  </a:ext>
                </a:extLst>
              </a:tr>
              <a:tr h="674534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Transparency importance ↔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Organic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3428306575"/>
                  </a:ext>
                </a:extLst>
              </a:tr>
              <a:tr h="509890">
                <a:tc>
                  <a:txBody>
                    <a:bodyPr/>
                    <a:lstStyle/>
                    <a:p>
                      <a:pPr algn="l"/>
                      <a:r>
                        <a:rPr lang="en-US" sz="1600" dirty="0"/>
                        <a:t>Healthy lifestyle ↔ 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Organic preference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0.38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263810944"/>
                  </a:ext>
                </a:extLst>
              </a:tr>
            </a:tbl>
          </a:graphicData>
        </a:graphic>
      </p:graphicFrame>
      <p:sp>
        <p:nvSpPr>
          <p:cNvPr id="9" name="Metin kutusu 8">
            <a:extLst>
              <a:ext uri="{FF2B5EF4-FFF2-40B4-BE49-F238E27FC236}">
                <a16:creationId xmlns="" xmlns:a16="http://schemas.microsoft.com/office/drawing/2014/main" id="{4C17799A-F29D-4258-A549-E3631D79DF4F}"/>
              </a:ext>
            </a:extLst>
          </p:cNvPr>
          <p:cNvSpPr txBox="1"/>
          <p:nvPr/>
        </p:nvSpPr>
        <p:spPr>
          <a:xfrm>
            <a:off x="624720" y="1047414"/>
            <a:ext cx="36592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6"/>
                </a:solidFill>
              </a:rPr>
              <a:t>Spearman </a:t>
            </a:r>
            <a:br>
              <a:rPr lang="en-US" dirty="0">
                <a:solidFill>
                  <a:schemeClr val="accent6"/>
                </a:solidFill>
              </a:rPr>
            </a:br>
            <a:r>
              <a:rPr lang="en-US" dirty="0">
                <a:solidFill>
                  <a:schemeClr val="accent6"/>
                </a:solidFill>
              </a:rPr>
              <a:t>Correlation</a:t>
            </a:r>
          </a:p>
        </p:txBody>
      </p:sp>
      <p:sp>
        <p:nvSpPr>
          <p:cNvPr id="10" name="Ok: Sağ 9">
            <a:extLst>
              <a:ext uri="{FF2B5EF4-FFF2-40B4-BE49-F238E27FC236}">
                <a16:creationId xmlns="" xmlns:a16="http://schemas.microsoft.com/office/drawing/2014/main" id="{87042F86-626A-43FF-91C9-FCC530F85E78}"/>
              </a:ext>
            </a:extLst>
          </p:cNvPr>
          <p:cNvSpPr/>
          <p:nvPr/>
        </p:nvSpPr>
        <p:spPr bwMode="auto">
          <a:xfrm>
            <a:off x="2811253" y="1210885"/>
            <a:ext cx="1008112" cy="50405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Times New Roman" charset="0"/>
            </a:endParaRPr>
          </a:p>
        </p:txBody>
      </p:sp>
      <p:sp>
        <p:nvSpPr>
          <p:cNvPr id="11" name="Ok: Sağ 10">
            <a:extLst>
              <a:ext uri="{FF2B5EF4-FFF2-40B4-BE49-F238E27FC236}">
                <a16:creationId xmlns="" xmlns:a16="http://schemas.microsoft.com/office/drawing/2014/main" id="{B61A8F96-3A46-4FCE-87F8-E883E2B4451F}"/>
              </a:ext>
            </a:extLst>
          </p:cNvPr>
          <p:cNvSpPr/>
          <p:nvPr/>
        </p:nvSpPr>
        <p:spPr bwMode="auto">
          <a:xfrm rot="5400000">
            <a:off x="1128776" y="2262888"/>
            <a:ext cx="1008112" cy="50405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accent6">
                  <a:lumMod val="40000"/>
                  <a:lumOff val="60000"/>
                </a:schemeClr>
              </a:solidFill>
              <a:effectLst/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331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1">
            <a:extLst>
              <a:ext uri="{FF2B5EF4-FFF2-40B4-BE49-F238E27FC236}">
                <a16:creationId xmlns="" xmlns:a16="http://schemas.microsoft.com/office/drawing/2014/main" id="{B5EB0BE5-4D0F-4B02-A324-9AAC51978A1D}"/>
              </a:ext>
            </a:extLst>
          </p:cNvPr>
          <p:cNvSpPr txBox="1">
            <a:spLocks/>
          </p:cNvSpPr>
          <p:nvPr/>
        </p:nvSpPr>
        <p:spPr bwMode="auto">
          <a:xfrm>
            <a:off x="1477434" y="261242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/>
            <a:r>
              <a:rPr lang="en-US" sz="2600" kern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Hypotheses &amp; Final Insights</a:t>
            </a:r>
          </a:p>
        </p:txBody>
      </p:sp>
      <p:graphicFrame>
        <p:nvGraphicFramePr>
          <p:cNvPr id="5" name="Tablo 4">
            <a:extLst>
              <a:ext uri="{FF2B5EF4-FFF2-40B4-BE49-F238E27FC236}">
                <a16:creationId xmlns="" xmlns:a16="http://schemas.microsoft.com/office/drawing/2014/main" id="{3F9AB37A-71C5-44DC-8CFD-CC9A43DC5FF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79512" y="1052736"/>
          <a:ext cx="7772400" cy="2164080"/>
        </p:xfrm>
        <a:graphic>
          <a:graphicData uri="http://schemas.openxmlformats.org/drawingml/2006/table">
            <a:tbl>
              <a:tblPr/>
              <a:tblGrid>
                <a:gridCol w="1368152">
                  <a:extLst>
                    <a:ext uri="{9D8B030D-6E8A-4147-A177-3AD203B41FA5}">
                      <a16:colId xmlns="" xmlns:a16="http://schemas.microsoft.com/office/drawing/2014/main" val="1864014581"/>
                    </a:ext>
                  </a:extLst>
                </a:gridCol>
                <a:gridCol w="3744416">
                  <a:extLst>
                    <a:ext uri="{9D8B030D-6E8A-4147-A177-3AD203B41FA5}">
                      <a16:colId xmlns="" xmlns:a16="http://schemas.microsoft.com/office/drawing/2014/main" val="2626592207"/>
                    </a:ext>
                  </a:extLst>
                </a:gridCol>
                <a:gridCol w="2659832">
                  <a:extLst>
                    <a:ext uri="{9D8B030D-6E8A-4147-A177-3AD203B41FA5}">
                      <a16:colId xmlns="" xmlns:a16="http://schemas.microsoft.com/office/drawing/2014/main" val="11133562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Hypothesis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Variable Comparison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Result</a:t>
                      </a:r>
                      <a:endParaRPr 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58248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H1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Gender → Trust in organic labels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✅ Significant (p = 0.0016)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5970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/>
                        <a:t>H2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Education → Healthy lifestyle interest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✅ Significant (p &lt; 0.01)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4236832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/>
                        <a:t>H3</a:t>
                      </a:r>
                      <a:endParaRPr lang="en-US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Education → Organic product preference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✅ Significant (p &lt; 0.01)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900610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H4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Education → Transparent sourcing interest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✅ Significant (p &lt; 0.01)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536497834"/>
                  </a:ext>
                </a:extLst>
              </a:tr>
            </a:tbl>
          </a:graphicData>
        </a:graphic>
      </p:graphicFrame>
      <p:sp>
        <p:nvSpPr>
          <p:cNvPr id="6" name="Metin kutusu 5">
            <a:extLst>
              <a:ext uri="{FF2B5EF4-FFF2-40B4-BE49-F238E27FC236}">
                <a16:creationId xmlns="" xmlns:a16="http://schemas.microsoft.com/office/drawing/2014/main" id="{0A91C816-E857-4970-A08B-E37A7DD24CB5}"/>
              </a:ext>
            </a:extLst>
          </p:cNvPr>
          <p:cNvSpPr txBox="1"/>
          <p:nvPr/>
        </p:nvSpPr>
        <p:spPr>
          <a:xfrm>
            <a:off x="2915816" y="3443899"/>
            <a:ext cx="59225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b="1" dirty="0"/>
              <a:t>People want access to healthy food regardless of age or income.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/>
              <a:t>Trust in organic labels remains critically low.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/>
              <a:t>Education boosts awareness and demand for organic products.</a:t>
            </a:r>
          </a:p>
        </p:txBody>
      </p:sp>
      <p:sp>
        <p:nvSpPr>
          <p:cNvPr id="9" name="Metin kutusu 8">
            <a:extLst>
              <a:ext uri="{FF2B5EF4-FFF2-40B4-BE49-F238E27FC236}">
                <a16:creationId xmlns="" xmlns:a16="http://schemas.microsoft.com/office/drawing/2014/main" id="{77C2DC85-EED2-4FD4-A2FC-B99829A2F91A}"/>
              </a:ext>
            </a:extLst>
          </p:cNvPr>
          <p:cNvSpPr txBox="1"/>
          <p:nvPr/>
        </p:nvSpPr>
        <p:spPr>
          <a:xfrm>
            <a:off x="167316" y="3495377"/>
            <a:ext cx="47154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🎯</a:t>
            </a:r>
            <a:r>
              <a:rPr lang="en-US" dirty="0">
                <a:solidFill>
                  <a:schemeClr val="accent6"/>
                </a:solidFill>
              </a:rPr>
              <a:t>Key Takeaways:</a:t>
            </a:r>
          </a:p>
        </p:txBody>
      </p:sp>
      <p:sp>
        <p:nvSpPr>
          <p:cNvPr id="11" name="Metin kutusu 10">
            <a:extLst>
              <a:ext uri="{FF2B5EF4-FFF2-40B4-BE49-F238E27FC236}">
                <a16:creationId xmlns="" xmlns:a16="http://schemas.microsoft.com/office/drawing/2014/main" id="{03284D68-F0BE-4B74-B60F-B7BC25867CFF}"/>
              </a:ext>
            </a:extLst>
          </p:cNvPr>
          <p:cNvSpPr txBox="1"/>
          <p:nvPr/>
        </p:nvSpPr>
        <p:spPr>
          <a:xfrm>
            <a:off x="708456" y="5199788"/>
            <a:ext cx="7727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chemeClr val="accent5">
                    <a:lumMod val="50000"/>
                  </a:schemeClr>
                </a:solidFill>
              </a:rPr>
              <a:t>“Our model directly responds to these findings by offering transparent, socially responsible, and accessible organic farming.”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="" xmlns:a16="http://schemas.microsoft.com/office/drawing/2014/main" id="{9B4925F9-C720-433B-83A8-C3CB4250BB54}"/>
              </a:ext>
            </a:extLst>
          </p:cNvPr>
          <p:cNvSpPr txBox="1"/>
          <p:nvPr/>
        </p:nvSpPr>
        <p:spPr>
          <a:xfrm>
            <a:off x="179512" y="5292120"/>
            <a:ext cx="5760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🌱 </a:t>
            </a:r>
          </a:p>
        </p:txBody>
      </p:sp>
    </p:spTree>
    <p:extLst>
      <p:ext uri="{BB962C8B-B14F-4D97-AF65-F5344CB8AC3E}">
        <p14:creationId xmlns:p14="http://schemas.microsoft.com/office/powerpoint/2010/main" val="1549458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1">
            <a:extLst>
              <a:ext uri="{FF2B5EF4-FFF2-40B4-BE49-F238E27FC236}">
                <a16:creationId xmlns="" xmlns:a16="http://schemas.microsoft.com/office/drawing/2014/main" id="{B5EB0BE5-4D0F-4B02-A324-9AAC51978A1D}"/>
              </a:ext>
            </a:extLst>
          </p:cNvPr>
          <p:cNvSpPr txBox="1">
            <a:spLocks/>
          </p:cNvSpPr>
          <p:nvPr/>
        </p:nvSpPr>
        <p:spPr bwMode="auto">
          <a:xfrm>
            <a:off x="1477434" y="261242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/>
            <a:r>
              <a:rPr lang="tr-TR" sz="260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Participant </a:t>
            </a:r>
            <a:r>
              <a:rPr lang="tr-TR" sz="2600" kern="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Demographics</a:t>
            </a:r>
            <a:endParaRPr lang="en-US" sz="26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621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Unvan 1">
            <a:extLst>
              <a:ext uri="{FF2B5EF4-FFF2-40B4-BE49-F238E27FC236}">
                <a16:creationId xmlns="" xmlns:a16="http://schemas.microsoft.com/office/drawing/2014/main" id="{B5EB0BE5-4D0F-4B02-A324-9AAC51978A1D}"/>
              </a:ext>
            </a:extLst>
          </p:cNvPr>
          <p:cNvSpPr txBox="1">
            <a:spLocks/>
          </p:cNvSpPr>
          <p:nvPr/>
        </p:nvSpPr>
        <p:spPr bwMode="auto">
          <a:xfrm>
            <a:off x="1477434" y="261242"/>
            <a:ext cx="5976664" cy="360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ctr"/>
            <a:r>
              <a:rPr lang="tr-TR" sz="2600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Interviews</a:t>
            </a:r>
            <a:endParaRPr lang="en-US" sz="2600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etin Yer Tutucusu 4"/>
          <p:cNvSpPr>
            <a:spLocks noGrp="1"/>
          </p:cNvSpPr>
          <p:nvPr>
            <p:ph type="body" idx="1"/>
          </p:nvPr>
        </p:nvSpPr>
        <p:spPr>
          <a:xfrm>
            <a:off x="0" y="1607096"/>
            <a:ext cx="2590510" cy="670715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tr-T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Open-</a:t>
            </a:r>
            <a:r>
              <a:rPr lang="tr-TR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ended</a:t>
            </a:r>
            <a: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tr-T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tr-T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uestions</a:t>
            </a:r>
            <a:endParaRPr lang="tr-TR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Resi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289" y="987406"/>
            <a:ext cx="1042901" cy="712818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649" y="933669"/>
            <a:ext cx="1008112" cy="673427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608" y="898195"/>
            <a:ext cx="678017" cy="708901"/>
          </a:xfrm>
          <a:prstGeom prst="rect">
            <a:avLst/>
          </a:prstGeom>
        </p:spPr>
      </p:pic>
      <p:sp>
        <p:nvSpPr>
          <p:cNvPr id="14" name="Dikdörtgen 13"/>
          <p:cNvSpPr/>
          <p:nvPr/>
        </p:nvSpPr>
        <p:spPr>
          <a:xfrm>
            <a:off x="2419315" y="1734817"/>
            <a:ext cx="17281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 People</a:t>
            </a:r>
            <a:endParaRPr lang="tr-T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Dikdörtgen 14"/>
          <p:cNvSpPr/>
          <p:nvPr/>
        </p:nvSpPr>
        <p:spPr>
          <a:xfrm>
            <a:off x="6300192" y="1674414"/>
            <a:ext cx="236769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Urban &amp; Educated</a:t>
            </a:r>
            <a:endParaRPr lang="tr-T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Dikdörtgen 19"/>
          <p:cNvSpPr/>
          <p:nvPr/>
        </p:nvSpPr>
        <p:spPr>
          <a:xfrm>
            <a:off x="4465766" y="1674414"/>
            <a:ext cx="17281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28–58</a:t>
            </a:r>
            <a:endParaRPr lang="tr-TR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years old</a:t>
            </a:r>
            <a:endParaRPr lang="tr-T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Resim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040" y="987406"/>
            <a:ext cx="854970" cy="663184"/>
          </a:xfrm>
          <a:prstGeom prst="rect">
            <a:avLst/>
          </a:prstGeom>
        </p:spPr>
      </p:pic>
      <p:pic>
        <p:nvPicPr>
          <p:cNvPr id="24" name="Resim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350" y="2469757"/>
            <a:ext cx="7488832" cy="2257705"/>
          </a:xfrm>
          <a:prstGeom prst="rect">
            <a:avLst/>
          </a:prstGeom>
        </p:spPr>
      </p:pic>
      <p:sp>
        <p:nvSpPr>
          <p:cNvPr id="25" name="Dikdörtgen 24"/>
          <p:cNvSpPr/>
          <p:nvPr/>
        </p:nvSpPr>
        <p:spPr>
          <a:xfrm>
            <a:off x="721350" y="5060113"/>
            <a:ext cx="79465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chemeClr val="accent5">
                    <a:lumMod val="50000"/>
                  </a:schemeClr>
                </a:solidFill>
              </a:rPr>
              <a:t>“We support small producers instead of the rich. The problems you mentioned are actually Türkiye’s problems</a:t>
            </a:r>
            <a:r>
              <a:rPr lang="en-US" sz="1800" b="1" i="1" dirty="0" smtClean="0">
                <a:solidFill>
                  <a:schemeClr val="accent5">
                    <a:lumMod val="50000"/>
                  </a:schemeClr>
                </a:solidFill>
              </a:rPr>
              <a:t>.” </a:t>
            </a:r>
            <a:r>
              <a:rPr lang="en-US" sz="1800" b="1" dirty="0" smtClean="0">
                <a:solidFill>
                  <a:schemeClr val="accent5">
                    <a:lumMod val="50000"/>
                  </a:schemeClr>
                </a:solidFill>
              </a:rPr>
              <a:t>(Interviewer 1, male, age 58)</a:t>
            </a:r>
            <a:endParaRPr lang="en-US" sz="1800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866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/>
              <a:t>Social Business Model Canvas</a:t>
            </a:r>
            <a:endParaRPr lang="en-US" sz="2600" b="1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48" y="906561"/>
            <a:ext cx="8817104" cy="50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03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 smtClean="0"/>
              <a:t>Requirement List</a:t>
            </a:r>
            <a:endParaRPr lang="en-US" sz="2600" b="1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80" y="836712"/>
            <a:ext cx="8754640" cy="511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496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1" y="272261"/>
            <a:ext cx="9144000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 smtClean="0"/>
              <a:t>House of Quality</a:t>
            </a:r>
            <a:endParaRPr lang="en-US" sz="2600" b="1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836712"/>
            <a:ext cx="5960848" cy="5100044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276" y="3068960"/>
            <a:ext cx="1666278" cy="104564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304" y="4653136"/>
            <a:ext cx="1162222" cy="58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28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kdörtgen 7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/>
              <a:t>Technical Specifications</a:t>
            </a:r>
            <a:endParaRPr lang="en-US" sz="2600" b="1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73" y="989992"/>
            <a:ext cx="8788054" cy="3281152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07" y="4365104"/>
            <a:ext cx="8562585" cy="136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5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/>
              <a:t>Initial Investment Items</a:t>
            </a: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00" y="764704"/>
            <a:ext cx="8504999" cy="530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68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b="1" dirty="0"/>
              <a:t>Initial Investment Items</a:t>
            </a:r>
            <a:r>
              <a:rPr lang="tr-TR" sz="2600" b="1" dirty="0"/>
              <a:t> (Cont’d)</a:t>
            </a:r>
            <a:endParaRPr lang="en-US" sz="2600" b="1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54" y="1386663"/>
            <a:ext cx="8664691" cy="40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103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Resim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143" y="4328919"/>
            <a:ext cx="3944573" cy="1727257"/>
          </a:xfrm>
          <a:prstGeom prst="rect">
            <a:avLst/>
          </a:prstGeom>
        </p:spPr>
      </p:pic>
      <p:sp>
        <p:nvSpPr>
          <p:cNvPr id="24" name="Dikdörtgen 23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/>
              <a:t>Financial Statements</a:t>
            </a:r>
            <a:endParaRPr lang="en-US" sz="2600" b="1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43" y="2895711"/>
            <a:ext cx="8770086" cy="1371819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074" y="4328658"/>
            <a:ext cx="4668676" cy="1727778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228" y="805131"/>
            <a:ext cx="8779001" cy="20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4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/>
              <a:t>Financial Statements (Cont’d)</a:t>
            </a:r>
            <a:endParaRPr lang="en-US" sz="2600" b="1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968" y="4941168"/>
            <a:ext cx="3578064" cy="1102584"/>
          </a:xfrm>
          <a:prstGeom prst="rect">
            <a:avLst/>
          </a:prstGeom>
        </p:spPr>
      </p:pic>
      <p:pic>
        <p:nvPicPr>
          <p:cNvPr id="2" name="Resi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8" y="909785"/>
            <a:ext cx="8965104" cy="395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39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kdörtgen 5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/>
              <a:t>What is the Economic Value We Offer?</a:t>
            </a:r>
            <a:endParaRPr lang="en-US" sz="2600" b="1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836712"/>
            <a:ext cx="7920880" cy="508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185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 smtClean="0"/>
              <a:t>Legal Feasibility</a:t>
            </a:r>
            <a:endParaRPr lang="en-US" sz="2600" b="1" dirty="0"/>
          </a:p>
        </p:txBody>
      </p:sp>
      <p:sp>
        <p:nvSpPr>
          <p:cNvPr id="5" name="Dikdörtgen 4"/>
          <p:cNvSpPr/>
          <p:nvPr/>
        </p:nvSpPr>
        <p:spPr>
          <a:xfrm>
            <a:off x="1043608" y="980728"/>
            <a:ext cx="77768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Operates under Law No. 1163 as a women-led Cooperative</a:t>
            </a:r>
            <a:r>
              <a:rPr lang="tr-TR" sz="1800" dirty="0"/>
              <a:t>.</a:t>
            </a:r>
            <a:endParaRPr lang="en-US" sz="1800" dirty="0"/>
          </a:p>
        </p:txBody>
      </p:sp>
      <p:sp>
        <p:nvSpPr>
          <p:cNvPr id="6" name="Dikdörtgen 5"/>
          <p:cNvSpPr/>
          <p:nvPr/>
        </p:nvSpPr>
        <p:spPr>
          <a:xfrm>
            <a:off x="1043608" y="1566084"/>
            <a:ext cx="7416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Complies with organic farming and food safety </a:t>
            </a:r>
            <a:r>
              <a:rPr lang="en-US" sz="1800" dirty="0" smtClean="0"/>
              <a:t>regulations</a:t>
            </a:r>
            <a:r>
              <a:rPr lang="tr-TR" sz="1800" dirty="0" smtClean="0"/>
              <a:t>.</a:t>
            </a:r>
            <a:endParaRPr lang="en-US" sz="1800" dirty="0"/>
          </a:p>
        </p:txBody>
      </p:sp>
      <p:sp>
        <p:nvSpPr>
          <p:cNvPr id="7" name="Dikdörtgen 6"/>
          <p:cNvSpPr/>
          <p:nvPr/>
        </p:nvSpPr>
        <p:spPr>
          <a:xfrm>
            <a:off x="1043608" y="2151440"/>
            <a:ext cx="7416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All legal registrations and certifications </a:t>
            </a:r>
            <a:r>
              <a:rPr lang="en-US" sz="1800" dirty="0" smtClean="0"/>
              <a:t>obtained</a:t>
            </a:r>
            <a:r>
              <a:rPr lang="tr-TR" sz="1800" dirty="0" smtClean="0"/>
              <a:t>.</a:t>
            </a:r>
            <a:endParaRPr lang="en-US" sz="1800" dirty="0"/>
          </a:p>
        </p:txBody>
      </p:sp>
      <p:sp>
        <p:nvSpPr>
          <p:cNvPr id="8" name="Dikdörtgen 7"/>
          <p:cNvSpPr/>
          <p:nvPr/>
        </p:nvSpPr>
        <p:spPr>
          <a:xfrm>
            <a:off x="1043608" y="2704545"/>
            <a:ext cx="7416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Eligible for national grants and public support </a:t>
            </a:r>
            <a:r>
              <a:rPr lang="en-US" sz="1800" dirty="0" smtClean="0"/>
              <a:t>programs</a:t>
            </a:r>
            <a:r>
              <a:rPr lang="tr-TR" sz="1800" dirty="0" smtClean="0"/>
              <a:t>.</a:t>
            </a:r>
            <a:endParaRPr lang="en-US" sz="1800" dirty="0"/>
          </a:p>
        </p:txBody>
      </p:sp>
      <p:sp>
        <p:nvSpPr>
          <p:cNvPr id="10" name="Dikdörtgen 9"/>
          <p:cNvSpPr/>
          <p:nvPr/>
        </p:nvSpPr>
        <p:spPr>
          <a:xfrm>
            <a:off x="1043608" y="3257650"/>
            <a:ext cx="7416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800" dirty="0"/>
              <a:t>Risks managed through legal consultancy and standardized </a:t>
            </a:r>
            <a:r>
              <a:rPr lang="en-US" sz="1800" dirty="0" smtClean="0"/>
              <a:t>contracts</a:t>
            </a:r>
            <a:r>
              <a:rPr lang="tr-TR" sz="1800" dirty="0" smtClean="0"/>
              <a:t>.</a:t>
            </a:r>
            <a:endParaRPr lang="en-US" sz="1800" dirty="0"/>
          </a:p>
        </p:txBody>
      </p:sp>
      <p:pic>
        <p:nvPicPr>
          <p:cNvPr id="2" name="Resi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4077072"/>
            <a:ext cx="1585097" cy="1577477"/>
          </a:xfrm>
          <a:prstGeom prst="rect">
            <a:avLst/>
          </a:prstGeom>
        </p:spPr>
      </p:pic>
      <p:pic>
        <p:nvPicPr>
          <p:cNvPr id="3" name="Resi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904" y="4027241"/>
            <a:ext cx="1512168" cy="1627308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71" y="4072333"/>
            <a:ext cx="1966130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88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 smtClean="0"/>
              <a:t>Alignment with SDG’s of UN</a:t>
            </a:r>
            <a:endParaRPr lang="en-US" sz="2600" b="1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956740"/>
            <a:ext cx="2340000" cy="2340000"/>
          </a:xfrm>
          <a:prstGeom prst="rect">
            <a:avLst/>
          </a:prstGeom>
        </p:spPr>
      </p:pic>
      <p:pic>
        <p:nvPicPr>
          <p:cNvPr id="9" name="Resim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000" y="956740"/>
            <a:ext cx="2340000" cy="2340000"/>
          </a:xfrm>
          <a:prstGeom prst="rect">
            <a:avLst/>
          </a:prstGeom>
        </p:spPr>
      </p:pic>
      <p:pic>
        <p:nvPicPr>
          <p:cNvPr id="10" name="Resim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16" y="956740"/>
            <a:ext cx="2340000" cy="2340000"/>
          </a:xfrm>
          <a:prstGeom prst="rect">
            <a:avLst/>
          </a:prstGeom>
        </p:spPr>
      </p:pic>
      <p:pic>
        <p:nvPicPr>
          <p:cNvPr id="11" name="Resim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3488776"/>
            <a:ext cx="2340000" cy="2340000"/>
          </a:xfrm>
          <a:prstGeom prst="rect">
            <a:avLst/>
          </a:prstGeom>
        </p:spPr>
      </p:pic>
      <p:pic>
        <p:nvPicPr>
          <p:cNvPr id="12" name="Resim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000" y="3488776"/>
            <a:ext cx="2340000" cy="2340000"/>
          </a:xfrm>
          <a:prstGeom prst="rect">
            <a:avLst/>
          </a:prstGeom>
        </p:spPr>
      </p:pic>
      <p:pic>
        <p:nvPicPr>
          <p:cNvPr id="13" name="Resim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616" y="3488776"/>
            <a:ext cx="2340000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20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/>
          <p:cNvSpPr/>
          <p:nvPr/>
        </p:nvSpPr>
        <p:spPr>
          <a:xfrm>
            <a:off x="1" y="272261"/>
            <a:ext cx="914399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r-TR" sz="2600" b="1" dirty="0" smtClean="0"/>
              <a:t>Project Roadmap</a:t>
            </a:r>
            <a:endParaRPr lang="en-US" sz="2600" b="1" dirty="0"/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79"/>
          <a:stretch/>
        </p:blipFill>
        <p:spPr>
          <a:xfrm>
            <a:off x="-2269" y="1412776"/>
            <a:ext cx="9144000" cy="4031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049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85800" y="518160"/>
            <a:ext cx="7772400" cy="5215096"/>
          </a:xfrm>
        </p:spPr>
        <p:txBody>
          <a:bodyPr/>
          <a:lstStyle/>
          <a:p>
            <a:pPr algn="ctr"/>
            <a:r>
              <a:rPr lang="tr-TR" dirty="0">
                <a:solidFill>
                  <a:schemeClr val="tx1"/>
                </a:solidFill>
                <a:latin typeface="Humanist 777" panose="02000503050000020004" pitchFamily="2" charset="-94"/>
              </a:rPr>
              <a:t>THANK YOU !</a:t>
            </a:r>
            <a:r>
              <a:rPr lang="en-US" dirty="0">
                <a:solidFill>
                  <a:schemeClr val="tx1"/>
                </a:solidFill>
                <a:latin typeface="Humanist 777" panose="02000503050000020004" pitchFamily="2" charset="-94"/>
              </a:rPr>
              <a:t> </a:t>
            </a:r>
            <a:r>
              <a:rPr lang="tr-TR" dirty="0">
                <a:solidFill>
                  <a:schemeClr val="tx1"/>
                </a:solidFill>
                <a:latin typeface="Humanist 777" panose="02000503050000020004" pitchFamily="2" charset="-94"/>
              </a:rPr>
              <a:t/>
            </a:r>
            <a:br>
              <a:rPr lang="tr-TR" dirty="0">
                <a:solidFill>
                  <a:schemeClr val="tx1"/>
                </a:solidFill>
                <a:latin typeface="Humanist 777" panose="02000503050000020004" pitchFamily="2" charset="-94"/>
              </a:rPr>
            </a:b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03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arwick_light_background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Warwick_light_background.pot</Template>
  <TotalTime>19930</TotalTime>
  <Words>557</Words>
  <Application>Microsoft Office PowerPoint</Application>
  <PresentationFormat>Ekran Gösterisi (4:3)</PresentationFormat>
  <Paragraphs>139</Paragraphs>
  <Slides>29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29</vt:i4>
      </vt:variant>
    </vt:vector>
  </HeadingPairs>
  <TitlesOfParts>
    <vt:vector size="38" baseType="lpstr">
      <vt:lpstr>ＭＳ Ｐゴシック</vt:lpstr>
      <vt:lpstr>Arial</vt:lpstr>
      <vt:lpstr>Arial Black</vt:lpstr>
      <vt:lpstr>Calibri</vt:lpstr>
      <vt:lpstr>Humanist 777</vt:lpstr>
      <vt:lpstr>Open Sans</vt:lpstr>
      <vt:lpstr>Times New Roman</vt:lpstr>
      <vt:lpstr>Wingdings</vt:lpstr>
      <vt:lpstr>Warwick_light_background</vt:lpstr>
      <vt:lpstr>Graduation Design Project (BTP) (2024/2025 Spring)</vt:lpstr>
      <vt:lpstr>PowerPoint Sunusu</vt:lpstr>
      <vt:lpstr>Problem Definition</vt:lpstr>
      <vt:lpstr>Methodology</vt:lpstr>
      <vt:lpstr>Literature Research</vt:lpstr>
      <vt:lpstr>Outputs of the Literature Research</vt:lpstr>
      <vt:lpstr>Outputs of the Literature Research</vt:lpstr>
      <vt:lpstr>Senin Bahçen Model</vt:lpstr>
      <vt:lpstr>PowerPoint Sunusu</vt:lpstr>
      <vt:lpstr>PowerPoint Sunusu</vt:lpstr>
      <vt:lpstr>Survey Background</vt:lpstr>
      <vt:lpstr>Distribution Checks &amp; General Trends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THANK YOU !  </vt:lpstr>
    </vt:vector>
  </TitlesOfParts>
  <Company>Carnegie Mellon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İşletme Mühendisliği Tanıtımı</dc:title>
  <dc:creator>Deniz Tuncalp</dc:creator>
  <cp:lastModifiedBy>Naci Hakan İlgün</cp:lastModifiedBy>
  <cp:revision>421</cp:revision>
  <cp:lastPrinted>2011-06-20T12:47:19Z</cp:lastPrinted>
  <dcterms:created xsi:type="dcterms:W3CDTF">2011-07-24T17:59:43Z</dcterms:created>
  <dcterms:modified xsi:type="dcterms:W3CDTF">2025-06-20T13:16:57Z</dcterms:modified>
</cp:coreProperties>
</file>